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12192000"/>
  <p:notesSz cx="6858000" cy="9144000"/>
  <p:embeddedFontLst>
    <p:embeddedFont>
      <p:font typeface="Helvetica Neue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8" roundtripDataSignature="AMtx7mikEy0ohB9mHbOMpt83m+hQLSQQ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13A96FE-C23F-4F40-B0B0-9001C625D743}">
  <a:tblStyle styleId="{613A96FE-C23F-4F40-B0B0-9001C625D74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HelveticaNeue-regular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HelveticaNeue-italic.fntdata"/><Relationship Id="rId25" Type="http://schemas.openxmlformats.org/officeDocument/2006/relationships/font" Target="fonts/HelveticaNeue-bold.fntdata"/><Relationship Id="rId28" Type="http://customschemas.google.com/relationships/presentationmetadata" Target="metadata"/><Relationship Id="rId27" Type="http://schemas.openxmlformats.org/officeDocument/2006/relationships/font" Target="fonts/HelveticaNeue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2" name="Google Shape;5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" name="Google Shape;61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9dea4763e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Cloud server and database</a:t>
            </a:r>
            <a:endParaRPr/>
          </a:p>
        </p:txBody>
      </p:sp>
      <p:sp>
        <p:nvSpPr>
          <p:cNvPr id="69" name="Google Shape;69;g39dea4763e5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b6a91e56a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Cloud server and database</a:t>
            </a:r>
            <a:endParaRPr/>
          </a:p>
        </p:txBody>
      </p:sp>
      <p:sp>
        <p:nvSpPr>
          <p:cNvPr id="81" name="Google Shape;81;g3b6a91e56a3_1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b6a91e56a3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Cloud server and database</a:t>
            </a:r>
            <a:endParaRPr/>
          </a:p>
        </p:txBody>
      </p:sp>
      <p:sp>
        <p:nvSpPr>
          <p:cNvPr id="88" name="Google Shape;88;g3b6a91e56a3_1_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b6eb1c30e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5" name="Google Shape;95;g3b6eb1c30e7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6eb1c30e7_0_1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g3b6eb1c30e7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b6eb1c30e7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12" name="Google Shape;112;g3b6eb1c30e7_0_2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6eb1c30e7_0_2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g3b6eb1c30e7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b6eb1c30e7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25" name="Google Shape;125;g3b6eb1c30e7_0_20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6eb1c30e7_0_2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g3b6eb1c30e7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644976f0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39" name="Google Shape;139;g3a644976f07_0_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b7e6eaff2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48" name="Google Shape;148;g3b7e6eaff25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b722adc27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56" name="Google Shape;156;g3b722adc27f_1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b7cda2a33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63" name="Google Shape;163;g3b7cda2a339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b6eb1c30e7_0_29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g3b6eb1c30e7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Michelle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b6eb1c30e7_0_2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g3b6eb1c30e7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Michelle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5292777" y="2130426"/>
            <a:ext cx="5984823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4165601" y="3886200"/>
            <a:ext cx="7111999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609600" y="649468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4165600" y="649468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10835640" y="6494683"/>
            <a:ext cx="7467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609600" y="846667"/>
            <a:ext cx="10972800" cy="859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609600" y="1761067"/>
            <a:ext cx="10972800" cy="473361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DLCOE_logo_HWHT.png" id="20" name="Google Shape;2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00850"/>
            <a:ext cx="3236655" cy="524933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11"/>
          <p:cNvSpPr txBox="1"/>
          <p:nvPr>
            <p:ph idx="10" type="dt"/>
          </p:nvPr>
        </p:nvSpPr>
        <p:spPr>
          <a:xfrm>
            <a:off x="609600" y="649468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11"/>
          <p:cNvSpPr txBox="1"/>
          <p:nvPr>
            <p:ph idx="11" type="ftr"/>
          </p:nvPr>
        </p:nvSpPr>
        <p:spPr>
          <a:xfrm>
            <a:off x="4165600" y="649468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11"/>
          <p:cNvSpPr txBox="1"/>
          <p:nvPr>
            <p:ph idx="12" type="sldNum"/>
          </p:nvPr>
        </p:nvSpPr>
        <p:spPr>
          <a:xfrm>
            <a:off x="10835640" y="6494683"/>
            <a:ext cx="7467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6197600" y="1761067"/>
            <a:ext cx="5384800" cy="473361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12"/>
          <p:cNvSpPr txBox="1"/>
          <p:nvPr>
            <p:ph type="title"/>
          </p:nvPr>
        </p:nvSpPr>
        <p:spPr>
          <a:xfrm>
            <a:off x="609600" y="846667"/>
            <a:ext cx="10972800" cy="859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7" name="Google Shape;27;p12"/>
          <p:cNvSpPr txBox="1"/>
          <p:nvPr>
            <p:ph idx="2" type="body"/>
          </p:nvPr>
        </p:nvSpPr>
        <p:spPr>
          <a:xfrm>
            <a:off x="609600" y="1761067"/>
            <a:ext cx="5384800" cy="473361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12"/>
          <p:cNvSpPr txBox="1"/>
          <p:nvPr>
            <p:ph idx="10" type="dt"/>
          </p:nvPr>
        </p:nvSpPr>
        <p:spPr>
          <a:xfrm>
            <a:off x="609600" y="649468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12"/>
          <p:cNvSpPr txBox="1"/>
          <p:nvPr>
            <p:ph idx="11" type="ftr"/>
          </p:nvPr>
        </p:nvSpPr>
        <p:spPr>
          <a:xfrm>
            <a:off x="4165600" y="649468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p12"/>
          <p:cNvSpPr txBox="1"/>
          <p:nvPr>
            <p:ph idx="12" type="sldNum"/>
          </p:nvPr>
        </p:nvSpPr>
        <p:spPr>
          <a:xfrm>
            <a:off x="10835640" y="6494683"/>
            <a:ext cx="7467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3"/>
          <p:cNvSpPr txBox="1"/>
          <p:nvPr>
            <p:ph type="title"/>
          </p:nvPr>
        </p:nvSpPr>
        <p:spPr>
          <a:xfrm>
            <a:off x="609600" y="290064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609600" y="649468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4165600" y="649468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10835640" y="6494683"/>
            <a:ext cx="7467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609601" y="1066969"/>
            <a:ext cx="4011084" cy="73688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4766733" y="1073721"/>
            <a:ext cx="6815667" cy="505244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609601" y="1803850"/>
            <a:ext cx="4011084" cy="432231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14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" name="Google Shape;41;p14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" name="Google Shape;42;p14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5"/>
          <p:cNvSpPr txBox="1"/>
          <p:nvPr>
            <p:ph type="title"/>
          </p:nvPr>
        </p:nvSpPr>
        <p:spPr>
          <a:xfrm>
            <a:off x="609600" y="1196430"/>
            <a:ext cx="3431563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" name="Google Shape;45;p15"/>
          <p:cNvSpPr/>
          <p:nvPr>
            <p:ph idx="2" type="pic"/>
          </p:nvPr>
        </p:nvSpPr>
        <p:spPr>
          <a:xfrm>
            <a:off x="4267200" y="1196431"/>
            <a:ext cx="7315200" cy="5298252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15"/>
          <p:cNvSpPr txBox="1"/>
          <p:nvPr>
            <p:ph idx="1" type="body"/>
          </p:nvPr>
        </p:nvSpPr>
        <p:spPr>
          <a:xfrm>
            <a:off x="609600" y="1768044"/>
            <a:ext cx="3431563" cy="472663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609600" y="649468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4165600" y="649468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10835640" y="6494683"/>
            <a:ext cx="7467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609600" y="649468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165600" y="649468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10835640" y="6494683"/>
            <a:ext cx="7467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jpg"/><Relationship Id="rId4" Type="http://schemas.openxmlformats.org/officeDocument/2006/relationships/image" Target="../media/image20.jpg"/><Relationship Id="rId5" Type="http://schemas.openxmlformats.org/officeDocument/2006/relationships/image" Target="../media/image21.jpg"/><Relationship Id="rId6" Type="http://schemas.openxmlformats.org/officeDocument/2006/relationships/image" Target="../media/image13.png"/><Relationship Id="rId7" Type="http://schemas.openxmlformats.org/officeDocument/2006/relationships/image" Target="../media/image3.png"/><Relationship Id="rId8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7576372" y="2130426"/>
            <a:ext cx="4488617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US"/>
              <a:t>Team 26: DC Motor Rotation Control</a:t>
            </a:r>
            <a:br>
              <a:rPr lang="en-US"/>
            </a:br>
            <a:r>
              <a:rPr lang="en-US"/>
              <a:t>Bi-Weekly Update 1</a:t>
            </a:r>
            <a:endParaRPr/>
          </a:p>
        </p:txBody>
      </p:sp>
      <p:pic>
        <p:nvPicPr>
          <p:cNvPr descr="DLCOE_logo_HWHT.png" id="55" name="Google Shape;5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1655" y="796285"/>
            <a:ext cx="3093334" cy="525616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"/>
          <p:cNvSpPr txBox="1"/>
          <p:nvPr>
            <p:ph idx="1" type="subTitle"/>
          </p:nvPr>
        </p:nvSpPr>
        <p:spPr>
          <a:xfrm>
            <a:off x="5528734" y="3886200"/>
            <a:ext cx="6536256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Zachary Bauman, Terrance Smith, Rodene Corpuz-Roxas, Josiah Thompson</a:t>
            </a:r>
            <a:endParaRPr>
              <a:solidFill>
                <a:schemeClr val="lt1"/>
              </a:solidFill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Sponsor: Aniruddha Datta</a:t>
            </a:r>
            <a:endParaRPr>
              <a:solidFill>
                <a:schemeClr val="lt1"/>
              </a:solidFill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TA: TBD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7" name="Google Shape;57;p1"/>
          <p:cNvSpPr txBox="1"/>
          <p:nvPr>
            <p:ph idx="12" type="sldNum"/>
          </p:nvPr>
        </p:nvSpPr>
        <p:spPr>
          <a:xfrm>
            <a:off x="807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8" name="Google Shape;58;p1" title="rpm.jpg"/>
          <p:cNvPicPr preferRelativeResize="0"/>
          <p:nvPr/>
        </p:nvPicPr>
        <p:blipFill rotWithShape="1">
          <a:blip r:embed="rId4">
            <a:alphaModFix amt="68000"/>
          </a:blip>
          <a:srcRect b="0" l="0" r="0" t="0"/>
          <a:stretch/>
        </p:blipFill>
        <p:spPr>
          <a:xfrm>
            <a:off x="0" y="38094"/>
            <a:ext cx="4887125" cy="3665356"/>
          </a:xfrm>
          <a:prstGeom prst="rect">
            <a:avLst/>
          </a:prstGeom>
          <a:noFill/>
          <a:ln>
            <a:noFill/>
          </a:ln>
          <a:effectLst>
            <a:reflection blurRad="0" dir="0" dist="0" endA="0" endPos="24000" fadeDir="5400012" kx="0" rotWithShape="0" algn="bl" stA="72000" stPos="0" sy="-100000" ky="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"/>
          <p:cNvSpPr txBox="1"/>
          <p:nvPr>
            <p:ph type="title"/>
          </p:nvPr>
        </p:nvSpPr>
        <p:spPr>
          <a:xfrm>
            <a:off x="609600" y="846667"/>
            <a:ext cx="10972800" cy="859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Project Summary</a:t>
            </a:r>
            <a:endParaRPr sz="3200"/>
          </a:p>
        </p:txBody>
      </p:sp>
      <p:sp>
        <p:nvSpPr>
          <p:cNvPr id="64" name="Google Shape;64;p2"/>
          <p:cNvSpPr txBox="1"/>
          <p:nvPr>
            <p:ph idx="1" type="body"/>
          </p:nvPr>
        </p:nvSpPr>
        <p:spPr>
          <a:xfrm>
            <a:off x="800100" y="2012232"/>
            <a:ext cx="6540500" cy="44824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>
                <a:latin typeface="Helvetica Neue"/>
                <a:ea typeface="Helvetica Neue"/>
                <a:cs typeface="Helvetica Neue"/>
                <a:sym typeface="Helvetica Neue"/>
              </a:rPr>
              <a:t>Problem statement:</a:t>
            </a:r>
            <a:endParaRPr/>
          </a:p>
          <a:p>
            <a:pPr indent="-3556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Helvetica Neue"/>
              <a:buChar char="•"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Motors are everywhere, even in hazardous areas. And all motors need to be controlled even when an operator is not physically present.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en-US" sz="2400">
                <a:latin typeface="Helvetica Neue"/>
                <a:ea typeface="Helvetica Neue"/>
                <a:cs typeface="Helvetica Neue"/>
                <a:sym typeface="Helvetica Neue"/>
              </a:rPr>
              <a:t>Our Solution:</a:t>
            </a:r>
            <a:endParaRPr/>
          </a:p>
          <a:p>
            <a:pPr indent="-3556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Helvetica Neue"/>
              <a:buChar char="•"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Create a custom DC motor controller that is safe and intuitive for the user.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5" name="Google Shape;65;p2"/>
          <p:cNvSpPr txBox="1"/>
          <p:nvPr>
            <p:ph idx="12" type="sldNum"/>
          </p:nvPr>
        </p:nvSpPr>
        <p:spPr>
          <a:xfrm>
            <a:off x="10835640" y="6494683"/>
            <a:ext cx="7467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</a:rPr>
              <a:t>‹#›</a:t>
            </a:fld>
            <a:endParaRPr sz="1200">
              <a:solidFill>
                <a:srgbClr val="888888"/>
              </a:solidFill>
            </a:endParaRPr>
          </a:p>
        </p:txBody>
      </p:sp>
      <p:pic>
        <p:nvPicPr>
          <p:cNvPr id="66" name="Google Shape;66;p2" title="rpm3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69725" y="2247976"/>
            <a:ext cx="3840575" cy="2565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g39dea4763e5_0_0" title="Blank diagra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853" y="2283822"/>
            <a:ext cx="11795925" cy="3632378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g39dea4763e5_0_0"/>
          <p:cNvSpPr txBox="1"/>
          <p:nvPr>
            <p:ph type="title"/>
          </p:nvPr>
        </p:nvSpPr>
        <p:spPr>
          <a:xfrm>
            <a:off x="609600" y="823036"/>
            <a:ext cx="109728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"/>
              <a:buNone/>
            </a:pPr>
            <a:r>
              <a:rPr i="0" lang="en-US" u="none" cap="none" strike="noStrike">
                <a:solidFill>
                  <a:schemeClr val="dk1"/>
                </a:solidFill>
              </a:rPr>
              <a:t>System</a:t>
            </a:r>
            <a:r>
              <a:rPr lang="en-US"/>
              <a:t> Overview</a:t>
            </a:r>
            <a:endParaRPr/>
          </a:p>
        </p:txBody>
      </p:sp>
      <p:sp>
        <p:nvSpPr>
          <p:cNvPr id="73" name="Google Shape;73;g39dea4763e5_0_0"/>
          <p:cNvSpPr txBox="1"/>
          <p:nvPr>
            <p:ph idx="12" type="sldNum"/>
          </p:nvPr>
        </p:nvSpPr>
        <p:spPr>
          <a:xfrm>
            <a:off x="14447520" y="6494683"/>
            <a:ext cx="995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4" name="Google Shape;74;g39dea4763e5_0_0"/>
          <p:cNvSpPr txBox="1"/>
          <p:nvPr/>
        </p:nvSpPr>
        <p:spPr>
          <a:xfrm>
            <a:off x="784297" y="4483096"/>
            <a:ext cx="2891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19700" lIns="119700" spcFirstLastPara="1" rIns="119700" wrap="square" tIns="119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33"/>
              <a:buFont typeface="Arial"/>
              <a:buNone/>
            </a:pPr>
            <a:r>
              <a:rPr b="0" i="0" lang="en-US" sz="18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Zachary Bauman</a:t>
            </a:r>
            <a:endParaRPr b="0" i="0" sz="183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g39dea4763e5_0_0"/>
          <p:cNvSpPr txBox="1"/>
          <p:nvPr/>
        </p:nvSpPr>
        <p:spPr>
          <a:xfrm>
            <a:off x="5773618" y="2181998"/>
            <a:ext cx="3831000" cy="3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19700" lIns="119700" spcFirstLastPara="1" rIns="119700" wrap="square" tIns="119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33"/>
              <a:buFont typeface="Arial"/>
              <a:buNone/>
            </a:pPr>
            <a:r>
              <a:rPr b="0" i="0" lang="en-US" sz="18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Rodene Corpuz-Roxas</a:t>
            </a:r>
            <a:endParaRPr b="0" i="0" sz="183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g39dea4763e5_0_0"/>
          <p:cNvSpPr txBox="1"/>
          <p:nvPr/>
        </p:nvSpPr>
        <p:spPr>
          <a:xfrm>
            <a:off x="4332059" y="5452331"/>
            <a:ext cx="2891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19700" lIns="119700" spcFirstLastPara="1" rIns="119700" wrap="square" tIns="119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33"/>
              <a:buFont typeface="Arial"/>
              <a:buNone/>
            </a:pPr>
            <a:r>
              <a:rPr b="0" i="0" lang="en-US" sz="18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Josiah Thompson</a:t>
            </a:r>
            <a:endParaRPr b="0" i="0" sz="183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g39dea4763e5_0_0"/>
          <p:cNvSpPr txBox="1"/>
          <p:nvPr/>
        </p:nvSpPr>
        <p:spPr>
          <a:xfrm>
            <a:off x="7857170" y="5031838"/>
            <a:ext cx="2891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19700" lIns="119700" spcFirstLastPara="1" rIns="119700" wrap="square" tIns="119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33"/>
              <a:buFont typeface="Arial"/>
              <a:buNone/>
            </a:pPr>
            <a:r>
              <a:rPr b="0" i="0" lang="en-US" sz="18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Terrance Smith</a:t>
            </a:r>
            <a:endParaRPr b="0" i="0" sz="183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g39dea4763e5_0_0"/>
          <p:cNvSpPr txBox="1"/>
          <p:nvPr/>
        </p:nvSpPr>
        <p:spPr>
          <a:xfrm>
            <a:off x="2614375" y="3477925"/>
            <a:ext cx="995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Bluetooth 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6a91e56a3_1_0"/>
          <p:cNvSpPr txBox="1"/>
          <p:nvPr>
            <p:ph type="title"/>
          </p:nvPr>
        </p:nvSpPr>
        <p:spPr>
          <a:xfrm>
            <a:off x="609600" y="823036"/>
            <a:ext cx="109728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"/>
              <a:buNone/>
            </a:pPr>
            <a:r>
              <a:rPr lang="en-US"/>
              <a:t>Major Project Changes for 404</a:t>
            </a:r>
            <a:endParaRPr/>
          </a:p>
        </p:txBody>
      </p:sp>
      <p:sp>
        <p:nvSpPr>
          <p:cNvPr id="84" name="Google Shape;84;g3b6a91e56a3_1_0"/>
          <p:cNvSpPr txBox="1"/>
          <p:nvPr>
            <p:ph idx="12" type="sldNum"/>
          </p:nvPr>
        </p:nvSpPr>
        <p:spPr>
          <a:xfrm>
            <a:off x="14447520" y="6494683"/>
            <a:ext cx="995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5" name="Google Shape;85;g3b6a91e56a3_1_0"/>
          <p:cNvSpPr txBox="1"/>
          <p:nvPr>
            <p:ph idx="1" type="body"/>
          </p:nvPr>
        </p:nvSpPr>
        <p:spPr>
          <a:xfrm>
            <a:off x="800100" y="2012225"/>
            <a:ext cx="10700700" cy="4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Helvetica Neue"/>
              <a:buChar char="•"/>
            </a:pPr>
            <a:r>
              <a:rPr lang="en-US" sz="2400">
                <a:latin typeface="Helvetica Neue"/>
                <a:ea typeface="Helvetica Neue"/>
                <a:cs typeface="Helvetica Neue"/>
                <a:sym typeface="Helvetica Neue"/>
              </a:rPr>
              <a:t>Decreased the scope of the project to only the DC motor</a:t>
            </a:r>
            <a:endParaRPr sz="2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lvetica Neue"/>
              <a:buChar char="•"/>
            </a:pPr>
            <a:r>
              <a:rPr lang="en-US" sz="2400">
                <a:latin typeface="Helvetica Neue"/>
                <a:ea typeface="Helvetica Neue"/>
                <a:cs typeface="Helvetica Neue"/>
                <a:sym typeface="Helvetica Neue"/>
              </a:rPr>
              <a:t>Main control of only one motor</a:t>
            </a:r>
            <a:endParaRPr sz="24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6a91e56a3_1_23"/>
          <p:cNvSpPr txBox="1"/>
          <p:nvPr>
            <p:ph type="title"/>
          </p:nvPr>
        </p:nvSpPr>
        <p:spPr>
          <a:xfrm>
            <a:off x="609600" y="823036"/>
            <a:ext cx="109728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"/>
              <a:buNone/>
            </a:pPr>
            <a:r>
              <a:rPr lang="en-US"/>
              <a:t>Project Timeline</a:t>
            </a:r>
            <a:endParaRPr/>
          </a:p>
        </p:txBody>
      </p:sp>
      <p:sp>
        <p:nvSpPr>
          <p:cNvPr id="91" name="Google Shape;91;g3b6a91e56a3_1_23"/>
          <p:cNvSpPr txBox="1"/>
          <p:nvPr>
            <p:ph idx="12" type="sldNum"/>
          </p:nvPr>
        </p:nvSpPr>
        <p:spPr>
          <a:xfrm>
            <a:off x="14447520" y="6494683"/>
            <a:ext cx="995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2" name="Google Shape;92;g3b6a91e56a3_1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853224"/>
            <a:ext cx="12764900" cy="173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6eb1c30e7_0_0"/>
          <p:cNvSpPr txBox="1"/>
          <p:nvPr>
            <p:ph type="title"/>
          </p:nvPr>
        </p:nvSpPr>
        <p:spPr>
          <a:xfrm>
            <a:off x="609600" y="1049177"/>
            <a:ext cx="109728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User Interface Subsystem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600"/>
              <a:t>Zachary Bauman</a:t>
            </a:r>
            <a:endParaRPr sz="2980"/>
          </a:p>
        </p:txBody>
      </p:sp>
      <p:graphicFrame>
        <p:nvGraphicFramePr>
          <p:cNvPr id="98" name="Google Shape;98;g3b6eb1c30e7_0_0"/>
          <p:cNvGraphicFramePr/>
          <p:nvPr/>
        </p:nvGraphicFramePr>
        <p:xfrm>
          <a:off x="914400" y="195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{613A96FE-C23F-4F40-B0B0-9001C625D743}</a:tableStyleId>
              </a:tblPr>
              <a:tblGrid>
                <a:gridCol w="5181600"/>
                <a:gridCol w="5181600"/>
              </a:tblGrid>
              <a:tr h="640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Accomplishments since 403            </a:t>
                      </a:r>
                      <a:r>
                        <a:rPr lang="en-US" sz="1800" u="none" cap="none" strike="noStrike"/>
                        <a:t>                     </a:t>
                      </a:r>
                      <a:r>
                        <a:rPr lang="en-US" sz="1800">
                          <a:solidFill>
                            <a:srgbClr val="C00000"/>
                          </a:solidFill>
                        </a:rPr>
                        <a:t>4</a:t>
                      </a:r>
                      <a:r>
                        <a:rPr lang="en-US" sz="1800">
                          <a:solidFill>
                            <a:srgbClr val="C00000"/>
                          </a:solidFill>
                        </a:rPr>
                        <a:t> </a:t>
                      </a:r>
                      <a:r>
                        <a:rPr lang="en-US" sz="1800" u="none" cap="none" strike="noStrike">
                          <a:solidFill>
                            <a:srgbClr val="C00000"/>
                          </a:solidFill>
                        </a:rPr>
                        <a:t>hrs of effort</a:t>
                      </a:r>
                      <a:endParaRPr sz="1800" u="none" cap="none" strike="noStrike">
                        <a:solidFill>
                          <a:srgbClr val="C00000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Ongoing progress/problems and plans until the next presentation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1734600">
                <a:tc>
                  <a:txBody>
                    <a:bodyPr/>
                    <a:lstStyle/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Source code documentation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Increased the </a:t>
                      </a:r>
                      <a:r>
                        <a:rPr lang="en-US" sz="1800"/>
                        <a:t>interface</a:t>
                      </a:r>
                      <a:r>
                        <a:rPr lang="en-US" sz="1800"/>
                        <a:t> accessibility and user-friendliness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Bonding/Authorized Access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Firebase Integration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MCU Bootloader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Over-the-air Firmware Updates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b6eb1c30e7_0_153"/>
          <p:cNvSpPr txBox="1"/>
          <p:nvPr>
            <p:ph type="title"/>
          </p:nvPr>
        </p:nvSpPr>
        <p:spPr>
          <a:xfrm>
            <a:off x="609600" y="1049177"/>
            <a:ext cx="109728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User Interface Subsystem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600"/>
              <a:t>Zachary Bauman</a:t>
            </a:r>
            <a:endParaRPr/>
          </a:p>
        </p:txBody>
      </p:sp>
      <p:pic>
        <p:nvPicPr>
          <p:cNvPr id="104" name="Google Shape;104;g3b6eb1c30e7_0_153"/>
          <p:cNvPicPr preferRelativeResize="0"/>
          <p:nvPr/>
        </p:nvPicPr>
        <p:blipFill rotWithShape="1">
          <a:blip r:embed="rId3">
            <a:alphaModFix/>
          </a:blip>
          <a:srcRect b="6721" l="0" r="0" t="3293"/>
          <a:stretch/>
        </p:blipFill>
        <p:spPr>
          <a:xfrm>
            <a:off x="608613" y="2329050"/>
            <a:ext cx="3576576" cy="2011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g3b6eb1c30e7_0_153"/>
          <p:cNvPicPr preferRelativeResize="0"/>
          <p:nvPr/>
        </p:nvPicPr>
        <p:blipFill rotWithShape="1">
          <a:blip r:embed="rId4">
            <a:alphaModFix/>
          </a:blip>
          <a:srcRect b="6167" l="0" r="0" t="3138"/>
          <a:stretch/>
        </p:blipFill>
        <p:spPr>
          <a:xfrm>
            <a:off x="4332913" y="2329050"/>
            <a:ext cx="3526170" cy="1998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g3b6eb1c30e7_0_153"/>
          <p:cNvPicPr preferRelativeResize="0"/>
          <p:nvPr/>
        </p:nvPicPr>
        <p:blipFill rotWithShape="1">
          <a:blip r:embed="rId5">
            <a:alphaModFix/>
          </a:blip>
          <a:srcRect b="6714" l="0" r="0" t="3397"/>
          <a:stretch/>
        </p:blipFill>
        <p:spPr>
          <a:xfrm>
            <a:off x="8006813" y="2322788"/>
            <a:ext cx="3576576" cy="2011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g3b6eb1c30e7_0_15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85062" y="4617325"/>
            <a:ext cx="4240400" cy="62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g3b6eb1c30e7_0_15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355950" y="5802427"/>
            <a:ext cx="5480075" cy="5656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g3b6eb1c30e7_0_153"/>
          <p:cNvPicPr preferRelativeResize="0"/>
          <p:nvPr/>
        </p:nvPicPr>
        <p:blipFill rotWithShape="1">
          <a:blip r:embed="rId8">
            <a:alphaModFix/>
          </a:blip>
          <a:srcRect b="53936" l="0" r="0" t="0"/>
          <a:stretch/>
        </p:blipFill>
        <p:spPr>
          <a:xfrm>
            <a:off x="3355963" y="5289073"/>
            <a:ext cx="5480074" cy="4642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6eb1c30e7_0_216"/>
          <p:cNvSpPr txBox="1"/>
          <p:nvPr>
            <p:ph type="title"/>
          </p:nvPr>
        </p:nvSpPr>
        <p:spPr>
          <a:xfrm>
            <a:off x="609600" y="1049177"/>
            <a:ext cx="109728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Control Algorithm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600"/>
              <a:t>Josiah Thompson</a:t>
            </a:r>
            <a:endParaRPr sz="2980"/>
          </a:p>
        </p:txBody>
      </p:sp>
      <p:graphicFrame>
        <p:nvGraphicFramePr>
          <p:cNvPr id="115" name="Google Shape;115;g3b6eb1c30e7_0_216"/>
          <p:cNvGraphicFramePr/>
          <p:nvPr/>
        </p:nvGraphicFramePr>
        <p:xfrm>
          <a:off x="914400" y="195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{613A96FE-C23F-4F40-B0B0-9001C625D743}</a:tableStyleId>
              </a:tblPr>
              <a:tblGrid>
                <a:gridCol w="5181600"/>
                <a:gridCol w="5181600"/>
              </a:tblGrid>
              <a:tr h="640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Accomplishments since 403                          </a:t>
                      </a:r>
                      <a:r>
                        <a:rPr lang="en-US" sz="1800">
                          <a:solidFill>
                            <a:srgbClr val="C00000"/>
                          </a:solidFill>
                        </a:rPr>
                        <a:t>         2</a:t>
                      </a:r>
                      <a:r>
                        <a:rPr lang="en-US" sz="1800" u="none" cap="none" strike="noStrike">
                          <a:solidFill>
                            <a:srgbClr val="C00000"/>
                          </a:solidFill>
                        </a:rPr>
                        <a:t> hrs of effort</a:t>
                      </a:r>
                      <a:endParaRPr sz="1800" u="none" cap="none" strike="noStrike">
                        <a:solidFill>
                          <a:srgbClr val="C00000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Ongoing progress/problems and plans until the next presentation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1734600">
                <a:tc>
                  <a:txBody>
                    <a:bodyPr/>
                    <a:lstStyle/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MCU research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Existing code review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Add coverage for edge cases in the algorithm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Add </a:t>
                      </a:r>
                      <a:r>
                        <a:rPr lang="en-US" sz="1800"/>
                        <a:t>bidirectional</a:t>
                      </a:r>
                      <a:r>
                        <a:rPr lang="en-US" sz="1800"/>
                        <a:t> control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Research position control requirements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6eb1c30e7_0_210"/>
          <p:cNvSpPr txBox="1"/>
          <p:nvPr>
            <p:ph type="title"/>
          </p:nvPr>
        </p:nvSpPr>
        <p:spPr>
          <a:xfrm>
            <a:off x="609600" y="1049177"/>
            <a:ext cx="109728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Control Algorithm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600"/>
              <a:t>Josiah Thompson</a:t>
            </a:r>
            <a:endParaRPr sz="2980"/>
          </a:p>
        </p:txBody>
      </p:sp>
      <p:pic>
        <p:nvPicPr>
          <p:cNvPr id="121" name="Google Shape;121;g3b6eb1c30e7_0_210" title="Screenshot 2025-12-06 23333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15800" y="1852875"/>
            <a:ext cx="3999023" cy="491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g3b6eb1c30e7_0_210" title="MFG_NUCLEO-WB55RG.jp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39050" y="2533750"/>
            <a:ext cx="3720101" cy="3720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b6eb1c30e7_0_204"/>
          <p:cNvSpPr txBox="1"/>
          <p:nvPr>
            <p:ph type="title"/>
          </p:nvPr>
        </p:nvSpPr>
        <p:spPr>
          <a:xfrm>
            <a:off x="609600" y="1049177"/>
            <a:ext cx="109728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Custom</a:t>
            </a:r>
            <a:r>
              <a:rPr lang="en-US"/>
              <a:t> driver/controller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600"/>
              <a:t>Terrance Smith</a:t>
            </a:r>
            <a:endParaRPr sz="2980"/>
          </a:p>
        </p:txBody>
      </p:sp>
      <p:graphicFrame>
        <p:nvGraphicFramePr>
          <p:cNvPr id="128" name="Google Shape;128;g3b6eb1c30e7_0_204"/>
          <p:cNvGraphicFramePr/>
          <p:nvPr/>
        </p:nvGraphicFramePr>
        <p:xfrm>
          <a:off x="914400" y="195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{613A96FE-C23F-4F40-B0B0-9001C625D743}</a:tableStyleId>
              </a:tblPr>
              <a:tblGrid>
                <a:gridCol w="5181600"/>
                <a:gridCol w="5181600"/>
              </a:tblGrid>
              <a:tr h="640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Accomplishments since 403               </a:t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3 hours</a:t>
                      </a:r>
                      <a:r>
                        <a:rPr lang="en-US" sz="1800" u="none" cap="none" strike="noStrike"/>
                        <a:t>           </a:t>
                      </a:r>
                      <a:endParaRPr sz="1800" u="none" cap="none" strike="noStrike">
                        <a:solidFill>
                          <a:srgbClr val="C00000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Ongoing progress/problems and plans until the next presentation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1734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-Diagnosed the component error </a:t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-Fix exact pcb component to allow NMOS to fully activate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-Add buck converter to pcb design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9" name="Google Shape;129;g3b6eb1c30e7_0_204"/>
          <p:cNvSpPr txBox="1"/>
          <p:nvPr/>
        </p:nvSpPr>
        <p:spPr>
          <a:xfrm>
            <a:off x="2044313" y="5015346"/>
            <a:ext cx="8460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b6eb1c30e7_0_222"/>
          <p:cNvSpPr txBox="1"/>
          <p:nvPr>
            <p:ph type="title"/>
          </p:nvPr>
        </p:nvSpPr>
        <p:spPr>
          <a:xfrm>
            <a:off x="609600" y="1049177"/>
            <a:ext cx="109728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Custom Controller/Driver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600"/>
              <a:t>Terrance Smith</a:t>
            </a:r>
            <a:endParaRPr sz="2980"/>
          </a:p>
        </p:txBody>
      </p:sp>
      <p:pic>
        <p:nvPicPr>
          <p:cNvPr id="135" name="Google Shape;135;g3b6eb1c30e7_0_222" title="IMG_3215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2115600" y="659999"/>
            <a:ext cx="4133750" cy="7359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g3b6eb1c30e7_0_222"/>
          <p:cNvSpPr txBox="1"/>
          <p:nvPr/>
        </p:nvSpPr>
        <p:spPr>
          <a:xfrm>
            <a:off x="8241850" y="2510525"/>
            <a:ext cx="3588300" cy="38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-US" sz="2200">
                <a:solidFill>
                  <a:schemeClr val="dk1"/>
                </a:solidFill>
              </a:rPr>
              <a:t>MOSFETS are becoming source followers. 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-US" sz="2200">
                <a:solidFill>
                  <a:schemeClr val="dk1"/>
                </a:solidFill>
              </a:rPr>
              <a:t>Bootstrap capacitors are not charging up.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644976f07_0_12"/>
          <p:cNvSpPr txBox="1"/>
          <p:nvPr>
            <p:ph type="title"/>
          </p:nvPr>
        </p:nvSpPr>
        <p:spPr>
          <a:xfrm>
            <a:off x="609600" y="846667"/>
            <a:ext cx="109728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Custom Driver/Encoder Subsystem Overview</a:t>
            </a:r>
            <a:endParaRPr sz="3200"/>
          </a:p>
        </p:txBody>
      </p:sp>
      <p:sp>
        <p:nvSpPr>
          <p:cNvPr id="142" name="Google Shape;142;g3a644976f07_0_12"/>
          <p:cNvSpPr txBox="1"/>
          <p:nvPr>
            <p:ph idx="12" type="sldNum"/>
          </p:nvPr>
        </p:nvSpPr>
        <p:spPr>
          <a:xfrm>
            <a:off x="10835640" y="6494683"/>
            <a:ext cx="74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</a:rPr>
              <a:t>‹#›</a:t>
            </a:fld>
            <a:endParaRPr sz="1200">
              <a:solidFill>
                <a:srgbClr val="888888"/>
              </a:solidFill>
            </a:endParaRPr>
          </a:p>
        </p:txBody>
      </p:sp>
      <p:sp>
        <p:nvSpPr>
          <p:cNvPr id="143" name="Google Shape;143;g3a644976f07_0_12"/>
          <p:cNvSpPr txBox="1"/>
          <p:nvPr/>
        </p:nvSpPr>
        <p:spPr>
          <a:xfrm>
            <a:off x="3500850" y="3541975"/>
            <a:ext cx="1514700" cy="4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g3a644976f07_0_12"/>
          <p:cNvSpPr txBox="1"/>
          <p:nvPr/>
        </p:nvSpPr>
        <p:spPr>
          <a:xfrm>
            <a:off x="6053150" y="2083000"/>
            <a:ext cx="6066900" cy="40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403 Deliverables</a:t>
            </a:r>
            <a:endParaRPr b="1" i="0" sz="2800" u="sng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Converts PWM outputs into readable signal for motor response 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Able to produce all 6-steps of motor control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Floating Phase receives and records the back-EMF from motor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PWM phase holds and charges Boot Capacitor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5" name="Google Shape;145;g3a644976f07_0_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2000" y="2735277"/>
            <a:ext cx="5443551" cy="30148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b7e6eaff25_0_0"/>
          <p:cNvSpPr txBox="1"/>
          <p:nvPr>
            <p:ph type="title"/>
          </p:nvPr>
        </p:nvSpPr>
        <p:spPr>
          <a:xfrm>
            <a:off x="609600" y="846667"/>
            <a:ext cx="109728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Power</a:t>
            </a:r>
            <a:br>
              <a:rPr lang="en-US"/>
            </a:br>
            <a:r>
              <a:rPr lang="en-US" sz="1800"/>
              <a:t>Rodene</a:t>
            </a:r>
            <a:endParaRPr sz="3200"/>
          </a:p>
        </p:txBody>
      </p:sp>
      <p:sp>
        <p:nvSpPr>
          <p:cNvPr id="151" name="Google Shape;151;g3b7e6eaff25_0_0"/>
          <p:cNvSpPr txBox="1"/>
          <p:nvPr>
            <p:ph idx="12" type="sldNum"/>
          </p:nvPr>
        </p:nvSpPr>
        <p:spPr>
          <a:xfrm>
            <a:off x="10835640" y="6494683"/>
            <a:ext cx="74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2" name="Google Shape;152;g3b7e6eaff25_0_0"/>
          <p:cNvSpPr txBox="1"/>
          <p:nvPr/>
        </p:nvSpPr>
        <p:spPr>
          <a:xfrm>
            <a:off x="702575" y="1869650"/>
            <a:ext cx="10879800" cy="46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>
                <a:solidFill>
                  <a:schemeClr val="dk1"/>
                </a:solidFill>
              </a:rPr>
              <a:t>PCB is tasked with converting wall input into output power supply for control system</a:t>
            </a:r>
            <a:endParaRPr sz="2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  <p:pic>
        <p:nvPicPr>
          <p:cNvPr id="153" name="Google Shape;153;g3b7e6eaff25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9801" y="3228536"/>
            <a:ext cx="5992374" cy="292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b722adc27f_1_0"/>
          <p:cNvSpPr txBox="1"/>
          <p:nvPr>
            <p:ph type="title"/>
          </p:nvPr>
        </p:nvSpPr>
        <p:spPr>
          <a:xfrm>
            <a:off x="609600" y="846667"/>
            <a:ext cx="109728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Power</a:t>
            </a:r>
            <a:br>
              <a:rPr lang="en-US"/>
            </a:br>
            <a:r>
              <a:rPr lang="en-US" sz="1800"/>
              <a:t>Rodene</a:t>
            </a:r>
            <a:endParaRPr sz="3200"/>
          </a:p>
        </p:txBody>
      </p:sp>
      <p:sp>
        <p:nvSpPr>
          <p:cNvPr id="159" name="Google Shape;159;g3b722adc27f_1_0"/>
          <p:cNvSpPr txBox="1"/>
          <p:nvPr>
            <p:ph idx="12" type="sldNum"/>
          </p:nvPr>
        </p:nvSpPr>
        <p:spPr>
          <a:xfrm>
            <a:off x="10835640" y="6494683"/>
            <a:ext cx="74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0" name="Google Shape;160;g3b722adc27f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7950" y="2017917"/>
            <a:ext cx="6896100" cy="447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5" name="Google Shape;165;g3b7cda2a339_0_0"/>
          <p:cNvGraphicFramePr/>
          <p:nvPr/>
        </p:nvGraphicFramePr>
        <p:xfrm>
          <a:off x="609600" y="1788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{613A96FE-C23F-4F40-B0B0-9001C625D743}</a:tableStyleId>
              </a:tblPr>
              <a:tblGrid>
                <a:gridCol w="6024875"/>
                <a:gridCol w="4947925"/>
              </a:tblGrid>
              <a:tr h="1042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Accomplishments since </a:t>
                      </a:r>
                      <a:r>
                        <a:rPr lang="en-US" sz="1800"/>
                        <a:t>403</a:t>
                      </a:r>
                      <a:endParaRPr sz="18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2 hours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Ongoing progress/problems and plans until the next presentation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2799425"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•"/>
                      </a:pPr>
                      <a:r>
                        <a:rPr lang="en-US" sz="1800"/>
                        <a:t>Currently have a non-functional PCB, but circuit schematic passes simulation expectations</a:t>
                      </a:r>
                      <a:endParaRPr sz="1800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•"/>
                      </a:pPr>
                      <a:r>
                        <a:rPr lang="en-US" sz="1800"/>
                        <a:t>Diagnosed where PCB failed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-3429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Char char="•"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Redesign PCB ground (trace widths/placements)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  <a:p>
                      <a:pPr indent="-3429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Char char="•"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Reorder PCB and respective components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66" name="Google Shape;166;g3b7cda2a339_0_0"/>
          <p:cNvSpPr txBox="1"/>
          <p:nvPr>
            <p:ph type="title"/>
          </p:nvPr>
        </p:nvSpPr>
        <p:spPr>
          <a:xfrm>
            <a:off x="609600" y="837842"/>
            <a:ext cx="109728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Power</a:t>
            </a:r>
            <a:br>
              <a:rPr lang="en-US"/>
            </a:br>
            <a:r>
              <a:rPr lang="en-US" sz="1800"/>
              <a:t>Rodene Corpuz-Roxas</a:t>
            </a:r>
            <a:endParaRPr sz="3200"/>
          </a:p>
        </p:txBody>
      </p:sp>
      <p:sp>
        <p:nvSpPr>
          <p:cNvPr id="167" name="Google Shape;167;g3b7cda2a339_0_0"/>
          <p:cNvSpPr txBox="1"/>
          <p:nvPr>
            <p:ph idx="12" type="sldNum"/>
          </p:nvPr>
        </p:nvSpPr>
        <p:spPr>
          <a:xfrm>
            <a:off x="10835640" y="6494683"/>
            <a:ext cx="74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b6eb1c30e7_0_290"/>
          <p:cNvSpPr txBox="1"/>
          <p:nvPr>
            <p:ph type="title"/>
          </p:nvPr>
        </p:nvSpPr>
        <p:spPr>
          <a:xfrm>
            <a:off x="-709750" y="1002842"/>
            <a:ext cx="146304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Parts Ordering Status </a:t>
            </a:r>
            <a:endParaRPr/>
          </a:p>
        </p:txBody>
      </p:sp>
      <p:sp>
        <p:nvSpPr>
          <p:cNvPr id="173" name="Google Shape;173;g3b6eb1c30e7_0_290"/>
          <p:cNvSpPr txBox="1"/>
          <p:nvPr/>
        </p:nvSpPr>
        <p:spPr>
          <a:xfrm>
            <a:off x="686455" y="3031783"/>
            <a:ext cx="59388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Inventory check for remaining spare parts. PCB orders will be placed by friday along with any necessary parts needed for circuits. Desired day to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receive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parts will be Wednesday-Thursday.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5715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4" name="Google Shape;174;g3b6eb1c30e7_0_2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63930" y="2470192"/>
            <a:ext cx="4767446" cy="36378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b6eb1c30e7_0_240"/>
          <p:cNvSpPr txBox="1"/>
          <p:nvPr>
            <p:ph type="title"/>
          </p:nvPr>
        </p:nvSpPr>
        <p:spPr>
          <a:xfrm>
            <a:off x="0" y="838775"/>
            <a:ext cx="121920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Execution &amp; Plan</a:t>
            </a:r>
            <a:endParaRPr/>
          </a:p>
        </p:txBody>
      </p:sp>
      <p:pic>
        <p:nvPicPr>
          <p:cNvPr id="180" name="Google Shape;180;g3b6eb1c30e7_0_2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2775" y="1455050"/>
            <a:ext cx="9966449" cy="5214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"/>
          <p:cNvSpPr txBox="1"/>
          <p:nvPr>
            <p:ph idx="1" type="body"/>
          </p:nvPr>
        </p:nvSpPr>
        <p:spPr>
          <a:xfrm>
            <a:off x="1981200" y="1608545"/>
            <a:ext cx="8229600" cy="40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3500"/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3500"/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800"/>
              <a:buNone/>
            </a:pPr>
            <a:r>
              <a:rPr b="1" lang="en-US" sz="3500"/>
              <a:t>Team 26: RPM1</a:t>
            </a:r>
            <a:endParaRPr b="1" sz="3500"/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800"/>
              <a:buNone/>
            </a:pPr>
            <a:r>
              <a:rPr b="1" lang="en-US" sz="3500"/>
              <a:t>Thanks &amp; Gig’em</a:t>
            </a:r>
            <a:endParaRPr b="1" sz="3500"/>
          </a:p>
        </p:txBody>
      </p:sp>
      <p:sp>
        <p:nvSpPr>
          <p:cNvPr id="186" name="Google Shape;186;p8"/>
          <p:cNvSpPr txBox="1"/>
          <p:nvPr/>
        </p:nvSpPr>
        <p:spPr>
          <a:xfrm>
            <a:off x="10835640" y="6494683"/>
            <a:ext cx="7467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Nowka, Kevin J.</dc:creator>
</cp:coreProperties>
</file>