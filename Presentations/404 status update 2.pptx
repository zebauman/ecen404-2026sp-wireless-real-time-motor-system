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embeddedFontLst>
    <p:embeddedFont>
      <p:font typeface="Helvetica Neue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gJFegKaI6eF+0sbP026onHpKSy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ABAF3B3-E0B0-4253-A189-27732C9DECD7}">
  <a:tblStyle styleId="{3ABAF3B3-E0B0-4253-A189-27732C9DECD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HelveticaNeue-regular.fntdata"/><Relationship Id="rId21" Type="http://schemas.openxmlformats.org/officeDocument/2006/relationships/slide" Target="slides/slide16.xml"/><Relationship Id="rId24" Type="http://schemas.openxmlformats.org/officeDocument/2006/relationships/font" Target="fonts/HelveticaNeue-italic.fntdata"/><Relationship Id="rId23" Type="http://schemas.openxmlformats.org/officeDocument/2006/relationships/font" Target="fonts/HelveticaNeue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font" Target="fonts/HelveticaNeue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" name="Google Shape;61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9dea4763e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Cloud server and database</a:t>
            </a:r>
            <a:endParaRPr/>
          </a:p>
        </p:txBody>
      </p:sp>
      <p:sp>
        <p:nvSpPr>
          <p:cNvPr id="69" name="Google Shape;69;g39dea4763e5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b6a91e56a3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Cloud server and database</a:t>
            </a:r>
            <a:endParaRPr/>
          </a:p>
        </p:txBody>
      </p:sp>
      <p:sp>
        <p:nvSpPr>
          <p:cNvPr id="81" name="Google Shape;81;g3b6a91e56a3_1_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6eb1c30e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8" name="Google Shape;88;g3b6eb1c30e7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b6eb1c30e7_0_1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3b6eb1c30e7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6eb1c30e7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2" name="Google Shape;102;g3b6eb1c30e7_0_2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6eb1c30e7_0_2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3b6eb1c30e7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6eb1c30e7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5" name="Google Shape;115;g3b6eb1c30e7_0_20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6eb1c30e7_0_2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b6eb1c30e7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7e6eaff2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29" name="Google Shape;129;g3b7e6eaff25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722adc27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7" name="Google Shape;137;g3b722adc27f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7cda2a3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44" name="Google Shape;144;g3b7cda2a339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b6eb1c30e7_0_2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b6eb1c30e7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cbd73fe93_2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3bcbd73fe93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Michelle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5292777" y="2130426"/>
            <a:ext cx="5984823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4165601" y="3886200"/>
            <a:ext cx="711199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609600" y="649468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165600" y="649468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10835640" y="6494683"/>
            <a:ext cx="746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609600" y="846667"/>
            <a:ext cx="10972800" cy="85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609600" y="1761067"/>
            <a:ext cx="10972800" cy="473361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DLCOE_logo_HWHT.png" id="20" name="Google Shape;2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00850"/>
            <a:ext cx="3236655" cy="52493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1"/>
          <p:cNvSpPr txBox="1"/>
          <p:nvPr>
            <p:ph idx="10" type="dt"/>
          </p:nvPr>
        </p:nvSpPr>
        <p:spPr>
          <a:xfrm>
            <a:off x="609600" y="649468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11"/>
          <p:cNvSpPr txBox="1"/>
          <p:nvPr>
            <p:ph idx="11" type="ftr"/>
          </p:nvPr>
        </p:nvSpPr>
        <p:spPr>
          <a:xfrm>
            <a:off x="4165600" y="649468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11"/>
          <p:cNvSpPr txBox="1"/>
          <p:nvPr>
            <p:ph idx="12" type="sldNum"/>
          </p:nvPr>
        </p:nvSpPr>
        <p:spPr>
          <a:xfrm>
            <a:off x="10835640" y="6494683"/>
            <a:ext cx="746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6197600" y="1761067"/>
            <a:ext cx="5384800" cy="473361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12"/>
          <p:cNvSpPr txBox="1"/>
          <p:nvPr>
            <p:ph type="title"/>
          </p:nvPr>
        </p:nvSpPr>
        <p:spPr>
          <a:xfrm>
            <a:off x="609600" y="846667"/>
            <a:ext cx="10972800" cy="85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7" name="Google Shape;27;p12"/>
          <p:cNvSpPr txBox="1"/>
          <p:nvPr>
            <p:ph idx="2" type="body"/>
          </p:nvPr>
        </p:nvSpPr>
        <p:spPr>
          <a:xfrm>
            <a:off x="609600" y="1761067"/>
            <a:ext cx="5384800" cy="473361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2"/>
          <p:cNvSpPr txBox="1"/>
          <p:nvPr>
            <p:ph idx="10" type="dt"/>
          </p:nvPr>
        </p:nvSpPr>
        <p:spPr>
          <a:xfrm>
            <a:off x="609600" y="649468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12"/>
          <p:cNvSpPr txBox="1"/>
          <p:nvPr>
            <p:ph idx="11" type="ftr"/>
          </p:nvPr>
        </p:nvSpPr>
        <p:spPr>
          <a:xfrm>
            <a:off x="4165600" y="649468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2" type="sldNum"/>
          </p:nvPr>
        </p:nvSpPr>
        <p:spPr>
          <a:xfrm>
            <a:off x="10835640" y="6494683"/>
            <a:ext cx="746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/>
          <p:nvPr>
            <p:ph type="title"/>
          </p:nvPr>
        </p:nvSpPr>
        <p:spPr>
          <a:xfrm>
            <a:off x="609600" y="290064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609600" y="649468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165600" y="649468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10835640" y="6494683"/>
            <a:ext cx="746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609601" y="1066969"/>
            <a:ext cx="4011084" cy="736881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4766733" y="1073721"/>
            <a:ext cx="6815667" cy="505244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609601" y="1803850"/>
            <a:ext cx="4011084" cy="432231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14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p14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1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5"/>
          <p:cNvSpPr txBox="1"/>
          <p:nvPr>
            <p:ph type="title"/>
          </p:nvPr>
        </p:nvSpPr>
        <p:spPr>
          <a:xfrm>
            <a:off x="609600" y="1196430"/>
            <a:ext cx="3431563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" name="Google Shape;45;p15"/>
          <p:cNvSpPr/>
          <p:nvPr>
            <p:ph idx="2" type="pic"/>
          </p:nvPr>
        </p:nvSpPr>
        <p:spPr>
          <a:xfrm>
            <a:off x="4267200" y="1196431"/>
            <a:ext cx="7315200" cy="5298252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15"/>
          <p:cNvSpPr txBox="1"/>
          <p:nvPr>
            <p:ph idx="1" type="body"/>
          </p:nvPr>
        </p:nvSpPr>
        <p:spPr>
          <a:xfrm>
            <a:off x="609600" y="1768044"/>
            <a:ext cx="3431563" cy="472663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609600" y="649468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165600" y="649468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10835640" y="6494683"/>
            <a:ext cx="746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609600" y="649468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165600" y="649468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10835640" y="6494683"/>
            <a:ext cx="746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jpg"/><Relationship Id="rId4" Type="http://schemas.openxmlformats.org/officeDocument/2006/relationships/image" Target="../media/image11.jpg"/><Relationship Id="rId5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7576372" y="2130426"/>
            <a:ext cx="4488617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 lang="en-US"/>
              <a:t>Team 26: DC Motor Rotation Control</a:t>
            </a:r>
            <a:br>
              <a:rPr lang="en-US"/>
            </a:br>
            <a:r>
              <a:rPr lang="en-US"/>
              <a:t>Bi-Weekly Update 2</a:t>
            </a:r>
            <a:endParaRPr/>
          </a:p>
        </p:txBody>
      </p:sp>
      <p:pic>
        <p:nvPicPr>
          <p:cNvPr descr="DLCOE_logo_HWHT.png" id="55" name="Google Shape;5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71655" y="796285"/>
            <a:ext cx="3093334" cy="525616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"/>
          <p:cNvSpPr txBox="1"/>
          <p:nvPr>
            <p:ph idx="1" type="subTitle"/>
          </p:nvPr>
        </p:nvSpPr>
        <p:spPr>
          <a:xfrm>
            <a:off x="5528734" y="3886200"/>
            <a:ext cx="6536256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Zachary Bauman, Terrance Smith, Rodene Corpuz-Roxas, Josiah Thompson</a:t>
            </a:r>
            <a:endParaRPr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Sponsor: Aniruddha Datta</a:t>
            </a:r>
            <a:endParaRPr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TA: </a:t>
            </a:r>
            <a:r>
              <a:rPr lang="en-US">
                <a:solidFill>
                  <a:schemeClr val="lt1"/>
                </a:solidFill>
              </a:rPr>
              <a:t>Manoj Kumar Balamurugan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7" name="Google Shape;57;p1"/>
          <p:cNvSpPr txBox="1"/>
          <p:nvPr>
            <p:ph idx="12" type="sldNum"/>
          </p:nvPr>
        </p:nvSpPr>
        <p:spPr>
          <a:xfrm>
            <a:off x="807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8" name="Google Shape;58;p1" title="rpm.jpg"/>
          <p:cNvPicPr preferRelativeResize="0"/>
          <p:nvPr/>
        </p:nvPicPr>
        <p:blipFill rotWithShape="1">
          <a:blip r:embed="rId4">
            <a:alphaModFix amt="68000"/>
          </a:blip>
          <a:srcRect b="0" l="0" r="0" t="0"/>
          <a:stretch/>
        </p:blipFill>
        <p:spPr>
          <a:xfrm>
            <a:off x="0" y="38094"/>
            <a:ext cx="4887125" cy="3665356"/>
          </a:xfrm>
          <a:prstGeom prst="rect">
            <a:avLst/>
          </a:prstGeom>
          <a:noFill/>
          <a:ln>
            <a:noFill/>
          </a:ln>
          <a:effectLst>
            <a:reflection blurRad="0" dir="0" dist="0" endA="0" endPos="24000" fadeDir="5400012" kx="0" rotWithShape="0" algn="bl" stA="72000" stPos="0" sy="-100000" ky="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 txBox="1"/>
          <p:nvPr>
            <p:ph type="title"/>
          </p:nvPr>
        </p:nvSpPr>
        <p:spPr>
          <a:xfrm>
            <a:off x="609600" y="846667"/>
            <a:ext cx="10972800" cy="85936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Project Summary</a:t>
            </a:r>
            <a:endParaRPr sz="3200"/>
          </a:p>
        </p:txBody>
      </p:sp>
      <p:sp>
        <p:nvSpPr>
          <p:cNvPr id="64" name="Google Shape;64;p2"/>
          <p:cNvSpPr txBox="1"/>
          <p:nvPr>
            <p:ph idx="1" type="body"/>
          </p:nvPr>
        </p:nvSpPr>
        <p:spPr>
          <a:xfrm>
            <a:off x="800100" y="2012232"/>
            <a:ext cx="6540500" cy="44824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Problem statement: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Helvetica Neue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Motors are everywhere, even in hazardous areas. And all motors need to be controlled even when an operator is not physically present.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latin typeface="Helvetica Neue"/>
                <a:ea typeface="Helvetica Neue"/>
                <a:cs typeface="Helvetica Neue"/>
                <a:sym typeface="Helvetica Neue"/>
              </a:rPr>
              <a:t>Our Solution: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Helvetica Neue"/>
              <a:buChar char="•"/>
            </a:pPr>
            <a:r>
              <a:rPr lang="en-US" sz="2000">
                <a:latin typeface="Helvetica Neue"/>
                <a:ea typeface="Helvetica Neue"/>
                <a:cs typeface="Helvetica Neue"/>
                <a:sym typeface="Helvetica Neue"/>
              </a:rPr>
              <a:t>Create a custom DC motor controller that is safe and intuitive for the user.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" name="Google Shape;65;p2"/>
          <p:cNvSpPr txBox="1"/>
          <p:nvPr>
            <p:ph idx="12" type="sldNum"/>
          </p:nvPr>
        </p:nvSpPr>
        <p:spPr>
          <a:xfrm>
            <a:off x="10835640" y="6494683"/>
            <a:ext cx="746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</a:pPr>
            <a:fld id="{00000000-1234-1234-1234-123412341234}" type="slidenum">
              <a:rPr lang="en-US" sz="1200">
                <a:solidFill>
                  <a:srgbClr val="888888"/>
                </a:solidFill>
              </a:rPr>
              <a:t>‹#›</a:t>
            </a:fld>
            <a:endParaRPr sz="1200">
              <a:solidFill>
                <a:srgbClr val="888888"/>
              </a:solidFill>
            </a:endParaRPr>
          </a:p>
        </p:txBody>
      </p:sp>
      <p:pic>
        <p:nvPicPr>
          <p:cNvPr id="66" name="Google Shape;66;p2" title="rpm3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9725" y="2247976"/>
            <a:ext cx="3840575" cy="2565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g39dea4763e5_0_0" title="Blank diagr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53" y="2283822"/>
            <a:ext cx="11795925" cy="3632378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g39dea4763e5_0_0"/>
          <p:cNvSpPr txBox="1"/>
          <p:nvPr>
            <p:ph type="title"/>
          </p:nvPr>
        </p:nvSpPr>
        <p:spPr>
          <a:xfrm>
            <a:off x="609600" y="823036"/>
            <a:ext cx="109728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None/>
            </a:pPr>
            <a:r>
              <a:rPr i="0" lang="en-US" u="none" cap="none" strike="noStrike">
                <a:solidFill>
                  <a:schemeClr val="dk1"/>
                </a:solidFill>
              </a:rPr>
              <a:t>System</a:t>
            </a:r>
            <a:r>
              <a:rPr lang="en-US"/>
              <a:t> Overview</a:t>
            </a:r>
            <a:endParaRPr/>
          </a:p>
        </p:txBody>
      </p:sp>
      <p:sp>
        <p:nvSpPr>
          <p:cNvPr id="73" name="Google Shape;73;g39dea4763e5_0_0"/>
          <p:cNvSpPr txBox="1"/>
          <p:nvPr>
            <p:ph idx="12" type="sldNum"/>
          </p:nvPr>
        </p:nvSpPr>
        <p:spPr>
          <a:xfrm>
            <a:off x="14447520" y="6494683"/>
            <a:ext cx="995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" name="Google Shape;74;g39dea4763e5_0_0"/>
          <p:cNvSpPr txBox="1"/>
          <p:nvPr/>
        </p:nvSpPr>
        <p:spPr>
          <a:xfrm>
            <a:off x="784297" y="4483096"/>
            <a:ext cx="2891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19700" lIns="119700" spcFirstLastPara="1" rIns="119700" wrap="square" tIns="119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3"/>
              <a:buFont typeface="Arial"/>
              <a:buNone/>
            </a:pPr>
            <a:r>
              <a:rPr b="0" i="0" lang="en-US" sz="18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Zachary Bauman</a:t>
            </a:r>
            <a:endParaRPr b="0" i="0" sz="183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g39dea4763e5_0_0"/>
          <p:cNvSpPr txBox="1"/>
          <p:nvPr/>
        </p:nvSpPr>
        <p:spPr>
          <a:xfrm>
            <a:off x="5773618" y="2181998"/>
            <a:ext cx="3831000" cy="3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19700" lIns="119700" spcFirstLastPara="1" rIns="119700" wrap="square" tIns="119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3"/>
              <a:buFont typeface="Arial"/>
              <a:buNone/>
            </a:pPr>
            <a:r>
              <a:rPr b="0" i="0" lang="en-US" sz="18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Rodene Corpuz-Roxas</a:t>
            </a:r>
            <a:endParaRPr b="0" i="0" sz="183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g39dea4763e5_0_0"/>
          <p:cNvSpPr txBox="1"/>
          <p:nvPr/>
        </p:nvSpPr>
        <p:spPr>
          <a:xfrm>
            <a:off x="4332059" y="5452331"/>
            <a:ext cx="2891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19700" lIns="119700" spcFirstLastPara="1" rIns="119700" wrap="square" tIns="119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3"/>
              <a:buFont typeface="Arial"/>
              <a:buNone/>
            </a:pPr>
            <a:r>
              <a:rPr b="0" i="0" lang="en-US" sz="18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Josiah Thompson</a:t>
            </a:r>
            <a:endParaRPr b="0" i="0" sz="183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g39dea4763e5_0_0"/>
          <p:cNvSpPr txBox="1"/>
          <p:nvPr/>
        </p:nvSpPr>
        <p:spPr>
          <a:xfrm>
            <a:off x="7857170" y="5031838"/>
            <a:ext cx="28911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19700" lIns="119700" spcFirstLastPara="1" rIns="119700" wrap="square" tIns="119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3"/>
              <a:buFont typeface="Arial"/>
              <a:buNone/>
            </a:pPr>
            <a:r>
              <a:rPr b="0" i="0" lang="en-US" sz="18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Terrance Smith</a:t>
            </a:r>
            <a:endParaRPr b="0" i="0" sz="183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g39dea4763e5_0_0"/>
          <p:cNvSpPr txBox="1"/>
          <p:nvPr/>
        </p:nvSpPr>
        <p:spPr>
          <a:xfrm>
            <a:off x="2614375" y="3477925"/>
            <a:ext cx="995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Bluetooth 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6a91e56a3_1_23"/>
          <p:cNvSpPr txBox="1"/>
          <p:nvPr>
            <p:ph type="title"/>
          </p:nvPr>
        </p:nvSpPr>
        <p:spPr>
          <a:xfrm>
            <a:off x="609600" y="823036"/>
            <a:ext cx="109728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None/>
            </a:pPr>
            <a:r>
              <a:rPr lang="en-US"/>
              <a:t>Project Timeline</a:t>
            </a:r>
            <a:endParaRPr/>
          </a:p>
        </p:txBody>
      </p:sp>
      <p:sp>
        <p:nvSpPr>
          <p:cNvPr id="84" name="Google Shape;84;g3b6a91e56a3_1_23"/>
          <p:cNvSpPr txBox="1"/>
          <p:nvPr>
            <p:ph idx="12" type="sldNum"/>
          </p:nvPr>
        </p:nvSpPr>
        <p:spPr>
          <a:xfrm>
            <a:off x="14447520" y="6494683"/>
            <a:ext cx="995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5" name="Google Shape;85;g3b6a91e56a3_1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92574"/>
            <a:ext cx="11887201" cy="1586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6eb1c30e7_0_0"/>
          <p:cNvSpPr txBox="1"/>
          <p:nvPr>
            <p:ph type="title"/>
          </p:nvPr>
        </p:nvSpPr>
        <p:spPr>
          <a:xfrm>
            <a:off x="609600" y="1049177"/>
            <a:ext cx="109728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User Interface Subsystem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600"/>
              <a:t>Zachary Bauman</a:t>
            </a:r>
            <a:endParaRPr sz="2980"/>
          </a:p>
        </p:txBody>
      </p:sp>
      <p:graphicFrame>
        <p:nvGraphicFramePr>
          <p:cNvPr id="91" name="Google Shape;91;g3b6eb1c30e7_0_0"/>
          <p:cNvGraphicFramePr/>
          <p:nvPr/>
        </p:nvGraphicFramePr>
        <p:xfrm>
          <a:off x="9144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{3ABAF3B3-E0B0-4253-A189-27732C9DECD7}</a:tableStyleId>
              </a:tblPr>
              <a:tblGrid>
                <a:gridCol w="5181600"/>
                <a:gridCol w="5181600"/>
              </a:tblGrid>
              <a:tr h="64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</a:t>
                      </a:r>
                      <a:r>
                        <a:rPr lang="en-US" sz="1800"/>
                        <a:t>last update</a:t>
                      </a:r>
                      <a:r>
                        <a:rPr lang="en-US" sz="1800" u="none" cap="none" strike="noStrike"/>
                        <a:t>                                </a:t>
                      </a:r>
                      <a:r>
                        <a:rPr lang="en-US" sz="1800" u="none" cap="none" strike="noStrike">
                          <a:solidFill>
                            <a:srgbClr val="C00000"/>
                          </a:solidFill>
                        </a:rPr>
                        <a:t>24</a:t>
                      </a:r>
                      <a:r>
                        <a:rPr lang="en-US" sz="1800" u="none" cap="none" strike="noStrike">
                          <a:solidFill>
                            <a:srgbClr val="C00000"/>
                          </a:solidFill>
                        </a:rPr>
                        <a:t> hrs of effort</a:t>
                      </a:r>
                      <a:endParaRPr sz="180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2417750">
                <a:tc>
                  <a:txBody>
                    <a:bodyPr/>
                    <a:lstStyle/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●"/>
                      </a:pPr>
                      <a:r>
                        <a:rPr lang="en-US" sz="1800"/>
                        <a:t>UI/UX additions to the controls and analytics</a:t>
                      </a:r>
                      <a:endParaRPr sz="1800"/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In </a:t>
                      </a:r>
                      <a:r>
                        <a:rPr lang="en-US" sz="1800"/>
                        <a:t>preparation</a:t>
                      </a:r>
                      <a:r>
                        <a:rPr lang="en-US" sz="1800"/>
                        <a:t> of the UI &amp; Controls Integration:</a:t>
                      </a:r>
                      <a:endParaRPr sz="1800"/>
                    </a:p>
                    <a:p>
                      <a:pPr indent="-342900" lvl="1" marL="914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○"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BLE Operations Queue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-342900" lvl="1" marL="914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Char char="○"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BLE/app support for CW/CCW movement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-342900" lvl="1" marL="9144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Char char="○"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Connectivity (BLE) Watchdog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●"/>
                      </a:pPr>
                      <a:r>
                        <a:rPr lang="en-US" sz="1800"/>
                        <a:t>Integration of UI/BLE &amp; Control Algorithm RTOS by the next review. (Complete integration of the UI &amp; Control Algorithm subsystems)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6eb1c30e7_0_153"/>
          <p:cNvSpPr txBox="1"/>
          <p:nvPr>
            <p:ph type="title"/>
          </p:nvPr>
        </p:nvSpPr>
        <p:spPr>
          <a:xfrm>
            <a:off x="609600" y="1049177"/>
            <a:ext cx="109728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User Interface Subsystem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600"/>
              <a:t>Zachary Bauman</a:t>
            </a:r>
            <a:endParaRPr/>
          </a:p>
        </p:txBody>
      </p:sp>
      <p:pic>
        <p:nvPicPr>
          <p:cNvPr id="97" name="Google Shape;97;g3b6eb1c30e7_0_153"/>
          <p:cNvPicPr preferRelativeResize="0"/>
          <p:nvPr/>
        </p:nvPicPr>
        <p:blipFill rotWithShape="1">
          <a:blip r:embed="rId3">
            <a:alphaModFix/>
          </a:blip>
          <a:srcRect b="6720" l="0" r="0" t="3293"/>
          <a:stretch/>
        </p:blipFill>
        <p:spPr>
          <a:xfrm>
            <a:off x="608613" y="2329050"/>
            <a:ext cx="3576576" cy="2011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g3b6eb1c30e7_0_153"/>
          <p:cNvPicPr preferRelativeResize="0"/>
          <p:nvPr/>
        </p:nvPicPr>
        <p:blipFill rotWithShape="1">
          <a:blip r:embed="rId4">
            <a:alphaModFix/>
          </a:blip>
          <a:srcRect b="6167" l="0" r="0" t="3138"/>
          <a:stretch/>
        </p:blipFill>
        <p:spPr>
          <a:xfrm>
            <a:off x="4332913" y="2329050"/>
            <a:ext cx="3526170" cy="1998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g3b6eb1c30e7_0_153"/>
          <p:cNvPicPr preferRelativeResize="0"/>
          <p:nvPr/>
        </p:nvPicPr>
        <p:blipFill rotWithShape="1">
          <a:blip r:embed="rId5">
            <a:alphaModFix/>
          </a:blip>
          <a:srcRect b="6714" l="0" r="0" t="3397"/>
          <a:stretch/>
        </p:blipFill>
        <p:spPr>
          <a:xfrm>
            <a:off x="8006813" y="2322788"/>
            <a:ext cx="3576576" cy="2011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6eb1c30e7_0_216"/>
          <p:cNvSpPr txBox="1"/>
          <p:nvPr>
            <p:ph type="title"/>
          </p:nvPr>
        </p:nvSpPr>
        <p:spPr>
          <a:xfrm>
            <a:off x="609600" y="1049177"/>
            <a:ext cx="109728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Control Algorithm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600"/>
              <a:t>Josiah Thompson</a:t>
            </a:r>
            <a:endParaRPr sz="2980"/>
          </a:p>
        </p:txBody>
      </p:sp>
      <p:graphicFrame>
        <p:nvGraphicFramePr>
          <p:cNvPr id="105" name="Google Shape;105;g3b6eb1c30e7_0_216"/>
          <p:cNvGraphicFramePr/>
          <p:nvPr/>
        </p:nvGraphicFramePr>
        <p:xfrm>
          <a:off x="9144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{3ABAF3B3-E0B0-4253-A189-27732C9DECD7}</a:tableStyleId>
              </a:tblPr>
              <a:tblGrid>
                <a:gridCol w="5181600"/>
                <a:gridCol w="5181600"/>
              </a:tblGrid>
              <a:tr h="64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403                          </a:t>
                      </a:r>
                      <a:r>
                        <a:rPr lang="en-US" sz="1800" u="none" cap="none" strike="noStrike">
                          <a:solidFill>
                            <a:srgbClr val="C00000"/>
                          </a:solidFill>
                        </a:rPr>
                        <a:t>         </a:t>
                      </a:r>
                      <a:r>
                        <a:rPr lang="en-US" sz="1800">
                          <a:solidFill>
                            <a:srgbClr val="C00000"/>
                          </a:solidFill>
                        </a:rPr>
                        <a:t>10</a:t>
                      </a:r>
                      <a:r>
                        <a:rPr lang="en-US" sz="1800" u="none" cap="none" strike="noStrike">
                          <a:solidFill>
                            <a:srgbClr val="C00000"/>
                          </a:solidFill>
                        </a:rPr>
                        <a:t> hrs of effort</a:t>
                      </a:r>
                      <a:endParaRPr sz="180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734600">
                <a:tc>
                  <a:txBody>
                    <a:bodyPr/>
                    <a:lstStyle/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●"/>
                      </a:pPr>
                      <a:r>
                        <a:rPr lang="en-US" sz="1800"/>
                        <a:t>403 Review</a:t>
                      </a:r>
                      <a:endParaRPr sz="1800"/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Added coverage for edge cases</a:t>
                      </a:r>
                      <a:endParaRPr sz="1800"/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Added bidirectional control functionality</a:t>
                      </a:r>
                      <a:endParaRPr sz="1800"/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Added P&amp;ID Control functionality</a:t>
                      </a:r>
                      <a:endParaRPr sz="18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●"/>
                      </a:pPr>
                      <a:r>
                        <a:rPr lang="en-US" sz="1800"/>
                        <a:t>Implement position control</a:t>
                      </a:r>
                      <a:endParaRPr sz="1800"/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●"/>
                      </a:pPr>
                      <a:r>
                        <a:rPr lang="en-US" sz="1800"/>
                        <a:t>Design MCU PCB from open-source schematic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6eb1c30e7_0_210"/>
          <p:cNvSpPr txBox="1"/>
          <p:nvPr>
            <p:ph type="title"/>
          </p:nvPr>
        </p:nvSpPr>
        <p:spPr>
          <a:xfrm>
            <a:off x="609600" y="1049177"/>
            <a:ext cx="109728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Control Algorithm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600"/>
              <a:t>Josiah Thompson</a:t>
            </a:r>
            <a:endParaRPr sz="2980"/>
          </a:p>
        </p:txBody>
      </p:sp>
      <p:pic>
        <p:nvPicPr>
          <p:cNvPr id="111" name="Google Shape;111;g3b6eb1c30e7_0_210" title="Screenshot 2025-12-06 2333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5800" y="1852875"/>
            <a:ext cx="3999023" cy="491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g3b6eb1c30e7_0_210" title="MFG_NUCLEO-WB55RG.jp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39050" y="2533750"/>
            <a:ext cx="3720101" cy="3720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6eb1c30e7_0_204"/>
          <p:cNvSpPr txBox="1"/>
          <p:nvPr>
            <p:ph type="title"/>
          </p:nvPr>
        </p:nvSpPr>
        <p:spPr>
          <a:xfrm>
            <a:off x="609600" y="1049177"/>
            <a:ext cx="109728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Custom driver/controller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600"/>
              <a:t>Terrance Smith</a:t>
            </a:r>
            <a:endParaRPr sz="2980"/>
          </a:p>
        </p:txBody>
      </p:sp>
      <p:graphicFrame>
        <p:nvGraphicFramePr>
          <p:cNvPr id="118" name="Google Shape;118;g3b6eb1c30e7_0_204"/>
          <p:cNvGraphicFramePr/>
          <p:nvPr/>
        </p:nvGraphicFramePr>
        <p:xfrm>
          <a:off x="914400" y="195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{3ABAF3B3-E0B0-4253-A189-27732C9DECD7}</a:tableStyleId>
              </a:tblPr>
              <a:tblGrid>
                <a:gridCol w="5181600"/>
                <a:gridCol w="5181600"/>
              </a:tblGrid>
              <a:tr h="640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</a:t>
                      </a:r>
                      <a:r>
                        <a:rPr lang="en-US" sz="1800"/>
                        <a:t>last update </a:t>
                      </a:r>
                      <a:r>
                        <a:rPr lang="en-US" sz="1800" u="none" cap="none" strike="noStrike"/>
                        <a:t>               </a:t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16</a:t>
                      </a:r>
                      <a:r>
                        <a:rPr lang="en-US" sz="1800" u="none" cap="none" strike="noStrike"/>
                        <a:t> hours           </a:t>
                      </a:r>
                      <a:endParaRPr sz="1800" u="none" cap="none" strike="noStrike">
                        <a:solidFill>
                          <a:srgbClr val="C0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1734600">
                <a:tc>
                  <a:txBody>
                    <a:bodyPr/>
                    <a:lstStyle/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fixed and ordered pcb</a:t>
                      </a:r>
                      <a:endParaRPr sz="1800"/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Ordered any remaining parts needed for updated pcb</a:t>
                      </a:r>
                      <a:endParaRPr sz="1800"/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Have concepts of integration with power pcb</a:t>
                      </a:r>
                      <a:endParaRPr sz="1800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waiting on components to begin soldering </a:t>
                      </a:r>
                      <a:endParaRPr sz="1800"/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-"/>
                      </a:pPr>
                      <a:r>
                        <a:rPr lang="en-US" sz="1800"/>
                        <a:t>complete integration with other subsystems 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9" name="Google Shape;119;g3b6eb1c30e7_0_204"/>
          <p:cNvSpPr txBox="1"/>
          <p:nvPr/>
        </p:nvSpPr>
        <p:spPr>
          <a:xfrm>
            <a:off x="2044313" y="5015346"/>
            <a:ext cx="8460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6eb1c30e7_0_222"/>
          <p:cNvSpPr txBox="1"/>
          <p:nvPr>
            <p:ph type="title"/>
          </p:nvPr>
        </p:nvSpPr>
        <p:spPr>
          <a:xfrm>
            <a:off x="609600" y="1049177"/>
            <a:ext cx="109728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/>
              <a:t>Custom Controller/Driver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1600"/>
              <a:t>Terrance Smith</a:t>
            </a:r>
            <a:endParaRPr sz="2980"/>
          </a:p>
        </p:txBody>
      </p:sp>
      <p:sp>
        <p:nvSpPr>
          <p:cNvPr id="125" name="Google Shape;125;g3b6eb1c30e7_0_222"/>
          <p:cNvSpPr txBox="1"/>
          <p:nvPr/>
        </p:nvSpPr>
        <p:spPr>
          <a:xfrm>
            <a:off x="8241850" y="2510525"/>
            <a:ext cx="3588300" cy="38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-"/>
            </a:pPr>
            <a:r>
              <a:rPr lang="en-US" sz="2200">
                <a:solidFill>
                  <a:schemeClr val="dk1"/>
                </a:solidFill>
              </a:rPr>
              <a:t>Cleaned up design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-US" sz="2200">
                <a:solidFill>
                  <a:schemeClr val="dk1"/>
                </a:solidFill>
              </a:rPr>
              <a:t>removed current sensors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-US" sz="2200">
                <a:solidFill>
                  <a:schemeClr val="dk1"/>
                </a:solidFill>
              </a:rPr>
              <a:t>added inductor for BC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-"/>
            </a:pPr>
            <a:r>
              <a:rPr lang="en-US" sz="2200">
                <a:solidFill>
                  <a:schemeClr val="dk1"/>
                </a:solidFill>
              </a:rPr>
              <a:t>corrected traces</a:t>
            </a:r>
            <a:endParaRPr sz="2200">
              <a:solidFill>
                <a:schemeClr val="dk1"/>
              </a:solidFill>
            </a:endParaRPr>
          </a:p>
        </p:txBody>
      </p:sp>
      <p:pic>
        <p:nvPicPr>
          <p:cNvPr id="126" name="Google Shape;126;g3b6eb1c30e7_0_2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5277"/>
            <a:ext cx="7937051" cy="44114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7e6eaff25_0_0"/>
          <p:cNvSpPr txBox="1"/>
          <p:nvPr>
            <p:ph type="title"/>
          </p:nvPr>
        </p:nvSpPr>
        <p:spPr>
          <a:xfrm>
            <a:off x="609600" y="846667"/>
            <a:ext cx="109728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Power</a:t>
            </a:r>
            <a:br>
              <a:rPr lang="en-US"/>
            </a:br>
            <a:r>
              <a:rPr lang="en-US" sz="1800"/>
              <a:t>Rodene</a:t>
            </a:r>
            <a:endParaRPr sz="3200"/>
          </a:p>
        </p:txBody>
      </p:sp>
      <p:sp>
        <p:nvSpPr>
          <p:cNvPr id="132" name="Google Shape;132;g3b7e6eaff25_0_0"/>
          <p:cNvSpPr txBox="1"/>
          <p:nvPr>
            <p:ph idx="12" type="sldNum"/>
          </p:nvPr>
        </p:nvSpPr>
        <p:spPr>
          <a:xfrm>
            <a:off x="10835640" y="6494683"/>
            <a:ext cx="74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" name="Google Shape;133;g3b7e6eaff25_0_0"/>
          <p:cNvSpPr txBox="1"/>
          <p:nvPr/>
        </p:nvSpPr>
        <p:spPr>
          <a:xfrm>
            <a:off x="702575" y="1869650"/>
            <a:ext cx="10879800" cy="46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PCB is tasked with converting wall input into output power supply for control system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g3b7e6eaff25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99801" y="3228536"/>
            <a:ext cx="5992374" cy="292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722adc27f_1_0"/>
          <p:cNvSpPr txBox="1"/>
          <p:nvPr>
            <p:ph type="title"/>
          </p:nvPr>
        </p:nvSpPr>
        <p:spPr>
          <a:xfrm>
            <a:off x="609600" y="846667"/>
            <a:ext cx="109728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Power</a:t>
            </a:r>
            <a:br>
              <a:rPr lang="en-US"/>
            </a:br>
            <a:r>
              <a:rPr lang="en-US" sz="1800"/>
              <a:t>Rodene</a:t>
            </a:r>
            <a:endParaRPr sz="3200"/>
          </a:p>
        </p:txBody>
      </p:sp>
      <p:sp>
        <p:nvSpPr>
          <p:cNvPr id="140" name="Google Shape;140;g3b722adc27f_1_0"/>
          <p:cNvSpPr txBox="1"/>
          <p:nvPr>
            <p:ph idx="12" type="sldNum"/>
          </p:nvPr>
        </p:nvSpPr>
        <p:spPr>
          <a:xfrm>
            <a:off x="10835640" y="6494683"/>
            <a:ext cx="74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1" name="Google Shape;141;g3b722adc27f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8738" y="1706167"/>
            <a:ext cx="9674523" cy="48470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6" name="Google Shape;146;g3b7cda2a339_0_0"/>
          <p:cNvGraphicFramePr/>
          <p:nvPr/>
        </p:nvGraphicFramePr>
        <p:xfrm>
          <a:off x="609600" y="1788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{3ABAF3B3-E0B0-4253-A189-27732C9DECD7}</a:tableStyleId>
              </a:tblPr>
              <a:tblGrid>
                <a:gridCol w="6024875"/>
                <a:gridCol w="4947925"/>
              </a:tblGrid>
              <a:tr h="1042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Accomplishments since 403</a:t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/>
                        <a:t>10</a:t>
                      </a:r>
                      <a:r>
                        <a:rPr lang="en-US" sz="1800" u="none" cap="none" strike="noStrike"/>
                        <a:t> hours</a:t>
                      </a:r>
                      <a:endParaRPr sz="18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Ongoing progress/problems and plans until the next presentation</a:t>
                      </a:r>
                      <a:endParaRPr sz="1400" u="none" cap="none" strike="noStrike"/>
                    </a:p>
                  </a:txBody>
                  <a:tcPr marT="45750" marB="45750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B8AF"/>
                    </a:solidFill>
                  </a:tcPr>
                </a:tc>
              </a:tr>
              <a:tr h="2799425"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US" sz="1800"/>
                        <a:t>Determined original PCB design failure was due to poorly designed ground layer.</a:t>
                      </a:r>
                      <a:endParaRPr sz="1800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•"/>
                      </a:pPr>
                      <a:r>
                        <a:rPr lang="en-US" sz="1800"/>
                        <a:t>Completely overhauled the double buck converter design.</a:t>
                      </a:r>
                      <a:endParaRPr sz="1800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Char char="•"/>
                      </a:pPr>
                      <a:r>
                        <a:rPr lang="en-US" sz="1800"/>
                        <a:t>Ordered/received PCB from JLC; parts ordered/received.</a:t>
                      </a:r>
                      <a:endParaRPr sz="1800"/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An inductor component needed is </a:t>
                      </a: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discontinued</a:t>
                      </a: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 (DigiKey mislabeled the item listing).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Complete assembly of the new power PCB as components arrive.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Char char="•"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Test the PCB with and without load before first integration with other subsystems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-3429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Char char="•"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Learning Solidworks software for full system enclosure.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50" marB="4575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7" name="Google Shape;147;g3b7cda2a339_0_0"/>
          <p:cNvSpPr txBox="1"/>
          <p:nvPr>
            <p:ph type="title"/>
          </p:nvPr>
        </p:nvSpPr>
        <p:spPr>
          <a:xfrm>
            <a:off x="609600" y="837842"/>
            <a:ext cx="109728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Power</a:t>
            </a:r>
            <a:br>
              <a:rPr lang="en-US"/>
            </a:br>
            <a:r>
              <a:rPr lang="en-US" sz="1800"/>
              <a:t>Rodene Corpuz-Roxas</a:t>
            </a:r>
            <a:endParaRPr sz="3200"/>
          </a:p>
        </p:txBody>
      </p:sp>
      <p:sp>
        <p:nvSpPr>
          <p:cNvPr id="148" name="Google Shape;148;g3b7cda2a339_0_0"/>
          <p:cNvSpPr txBox="1"/>
          <p:nvPr>
            <p:ph idx="12" type="sldNum"/>
          </p:nvPr>
        </p:nvSpPr>
        <p:spPr>
          <a:xfrm>
            <a:off x="10835640" y="6494683"/>
            <a:ext cx="746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b6eb1c30e7_0_240"/>
          <p:cNvSpPr txBox="1"/>
          <p:nvPr>
            <p:ph type="title"/>
          </p:nvPr>
        </p:nvSpPr>
        <p:spPr>
          <a:xfrm>
            <a:off x="0" y="838775"/>
            <a:ext cx="121920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Execution Plan</a:t>
            </a:r>
            <a:endParaRPr/>
          </a:p>
        </p:txBody>
      </p:sp>
      <p:pic>
        <p:nvPicPr>
          <p:cNvPr id="154" name="Google Shape;154;g3b6eb1c30e7_0_2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8037" y="1698273"/>
            <a:ext cx="8975924" cy="468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bcbd73fe93_2_0"/>
          <p:cNvSpPr txBox="1"/>
          <p:nvPr>
            <p:ph type="title"/>
          </p:nvPr>
        </p:nvSpPr>
        <p:spPr>
          <a:xfrm>
            <a:off x="0" y="838775"/>
            <a:ext cx="12192000" cy="8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Validation Plan</a:t>
            </a:r>
            <a:endParaRPr/>
          </a:p>
        </p:txBody>
      </p:sp>
      <p:pic>
        <p:nvPicPr>
          <p:cNvPr id="160" name="Google Shape;160;g3bcbd73fe93_2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150" y="1539525"/>
            <a:ext cx="11051711" cy="485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"/>
          <p:cNvSpPr txBox="1"/>
          <p:nvPr>
            <p:ph idx="1" type="body"/>
          </p:nvPr>
        </p:nvSpPr>
        <p:spPr>
          <a:xfrm>
            <a:off x="1981200" y="1608545"/>
            <a:ext cx="8229600" cy="40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3500"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3500"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</a:pPr>
            <a:r>
              <a:rPr b="1" lang="en-US" sz="3500"/>
              <a:t>Team 26: RPM1</a:t>
            </a:r>
            <a:endParaRPr b="1" sz="3500"/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</a:pPr>
            <a:r>
              <a:rPr b="1" lang="en-US" sz="3500"/>
              <a:t>Thanks &amp; Gig’em</a:t>
            </a:r>
            <a:endParaRPr b="1" sz="3500"/>
          </a:p>
        </p:txBody>
      </p:sp>
      <p:sp>
        <p:nvSpPr>
          <p:cNvPr id="166" name="Google Shape;166;p8"/>
          <p:cNvSpPr txBox="1"/>
          <p:nvPr/>
        </p:nvSpPr>
        <p:spPr>
          <a:xfrm>
            <a:off x="10835640" y="6494683"/>
            <a:ext cx="7467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Nowka, Kevin J.</dc:creator>
</cp:coreProperties>
</file>