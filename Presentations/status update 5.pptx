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FABF46-57E0-47C0-BE7C-1FD9BBCE0F27}">
  <a:tblStyle styleId="{03FABF46-57E0-47C0-BE7C-1FD9BBCE0F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8714026d1_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" name="Google Shape;97;g3c8714026d1_4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714026d1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c8714026d1_4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714026d1_4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Cloud server and database</a:t>
            </a:r>
            <a:endParaRPr/>
          </a:p>
        </p:txBody>
      </p:sp>
      <p:sp>
        <p:nvSpPr>
          <p:cNvPr id="114" name="Google Shape;114;g3c8714026d1_4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714026d1_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Cloud server and database</a:t>
            </a:r>
            <a:endParaRPr/>
          </a:p>
        </p:txBody>
      </p:sp>
      <p:sp>
        <p:nvSpPr>
          <p:cNvPr id="126" name="Google Shape;126;g3c8714026d1_4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714026d1_4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g3c8714026d1_4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a2b713df5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a2b713df5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714026d1_4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6" name="Google Shape;146;g3c8714026d1_4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8714026d1_4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g3c8714026d1_4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8714026d1_4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c8714026d1_4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714026d1_4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6" name="Google Shape;166;g3c8714026d1_4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8714026d1_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g3c8714026d1_4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8714026d1_4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8714026d1_4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8714026d1_4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c8714026d1_4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4bbface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4bbface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8714026d1_4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c8714026d1_4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969583" y="1597820"/>
            <a:ext cx="4488617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24201" y="2914650"/>
            <a:ext cx="5333999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marR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87101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87101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635000"/>
            <a:ext cx="82296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320800"/>
            <a:ext cx="8229600" cy="3550212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LCOE_logo_HWHT.png"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5638"/>
            <a:ext cx="2427491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87101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124200" y="487101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648200" y="1320800"/>
            <a:ext cx="4038600" cy="3550211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457200" y="635000"/>
            <a:ext cx="82296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457200" y="1320800"/>
            <a:ext cx="4038600" cy="355021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457200" y="487101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124200" y="487101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57200" y="2175487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87101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87101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1" y="800227"/>
            <a:ext cx="3008313" cy="552661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575050" y="805291"/>
            <a:ext cx="5111750" cy="3789332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1" y="1352888"/>
            <a:ext cx="3008313" cy="3241736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457200" y="897322"/>
            <a:ext cx="2573672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0" name="Google Shape;90;p19"/>
          <p:cNvSpPr/>
          <p:nvPr>
            <p:ph idx="2" type="pic"/>
          </p:nvPr>
        </p:nvSpPr>
        <p:spPr>
          <a:xfrm>
            <a:off x="3200400" y="897323"/>
            <a:ext cx="5486400" cy="3973689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1326033"/>
            <a:ext cx="2573672" cy="3544979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87101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87101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87101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87101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wmFLrIkgWYo" TargetMode="External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hyperlink" Target="http://www.youtube.com/watch?v=fQLzNOAB9ak" TargetMode="External"/><Relationship Id="rId5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ctrTitle"/>
          </p:nvPr>
        </p:nvSpPr>
        <p:spPr>
          <a:xfrm>
            <a:off x="5682279" y="1597820"/>
            <a:ext cx="3366463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Team 26: DC Motor Rotation Control</a:t>
            </a:r>
            <a:br>
              <a:rPr lang="en"/>
            </a:br>
            <a:r>
              <a:rPr lang="en"/>
              <a:t>Bi-Weekly Update 5</a:t>
            </a:r>
            <a:endParaRPr/>
          </a:p>
        </p:txBody>
      </p:sp>
      <p:pic>
        <p:nvPicPr>
          <p:cNvPr descr="DLCOE_logo_HWHT.png" id="100" name="Google Shape;1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8741" y="597214"/>
            <a:ext cx="2320001" cy="39421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4146551" y="2914650"/>
            <a:ext cx="4902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Zachary Bauman, Terrance Smith, Rodene Corpuz-Roxas, Josiah Thompson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Sponsor: Aniruddha Datta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TA: </a:t>
            </a:r>
            <a:r>
              <a:rPr lang="en">
                <a:solidFill>
                  <a:schemeClr val="lt1"/>
                </a:solidFill>
              </a:rPr>
              <a:t>Manoj Kumar Balamurugan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6057900" y="4767263"/>
            <a:ext cx="16002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0" title="rpm.jpg"/>
          <p:cNvPicPr preferRelativeResize="0"/>
          <p:nvPr/>
        </p:nvPicPr>
        <p:blipFill rotWithShape="1">
          <a:blip r:embed="rId4">
            <a:alphaModFix amt="68000"/>
          </a:blip>
          <a:srcRect b="0" l="0" r="0" t="0"/>
          <a:stretch/>
        </p:blipFill>
        <p:spPr>
          <a:xfrm>
            <a:off x="0" y="28570"/>
            <a:ext cx="3665344" cy="2749017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24000" fadeDir="5400012" kx="0" rotWithShape="0" algn="bl" stA="7200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635000"/>
            <a:ext cx="82296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 sz="2400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600075" y="1509174"/>
            <a:ext cx="4905375" cy="33618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Helvetica Neue"/>
              <a:buChar char="•"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Motors are everywhere, even in hazardous areas. And all motors need to be controlled even when an operator is not physically present.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26035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Helvetica Neue"/>
              <a:buChar char="•"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Create a custom DC motor controller that is safe and intuitive for the user.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</a:rPr>
              <a:t>‹#›</a:t>
            </a:fld>
            <a:endParaRPr sz="900">
              <a:solidFill>
                <a:srgbClr val="888888"/>
              </a:solidFill>
            </a:endParaRPr>
          </a:p>
        </p:txBody>
      </p:sp>
      <p:pic>
        <p:nvPicPr>
          <p:cNvPr id="111" name="Google Shape;111;p21" title="rpm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294" y="1685982"/>
            <a:ext cx="2880431" cy="192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 title="Blank 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40" y="2029042"/>
            <a:ext cx="8846945" cy="272428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>
            <p:ph type="title"/>
          </p:nvPr>
        </p:nvSpPr>
        <p:spPr>
          <a:xfrm>
            <a:off x="457200" y="617277"/>
            <a:ext cx="8229600" cy="602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elvetica Neue"/>
              <a:buNone/>
            </a:pPr>
            <a:r>
              <a:rPr i="0" lang="en" u="none" cap="none" strike="noStrike">
                <a:solidFill>
                  <a:schemeClr val="dk1"/>
                </a:solidFill>
              </a:rPr>
              <a:t>System</a:t>
            </a:r>
            <a:r>
              <a:rPr lang="en"/>
              <a:t> Overview</a:t>
            </a:r>
            <a:endParaRPr/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10835640" y="4871012"/>
            <a:ext cx="7467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588223" y="3362322"/>
            <a:ext cx="21683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89775" lIns="89775" spcFirstLastPara="1" rIns="89775" wrap="square" tIns="8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Zachary Bauman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330214" y="1636499"/>
            <a:ext cx="2873250" cy="294525"/>
          </a:xfrm>
          <a:prstGeom prst="rect">
            <a:avLst/>
          </a:prstGeom>
          <a:noFill/>
          <a:ln>
            <a:noFill/>
          </a:ln>
        </p:spPr>
        <p:txBody>
          <a:bodyPr anchorCtr="0" anchor="t" bIns="89775" lIns="89775" spcFirstLastPara="1" rIns="89775" wrap="square" tIns="8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Rodene Corpuz-Roxas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3249044" y="4089248"/>
            <a:ext cx="21683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89775" lIns="89775" spcFirstLastPara="1" rIns="89775" wrap="square" tIns="8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Josiah Thompson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5892877" y="3773879"/>
            <a:ext cx="2168325" cy="4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89775" lIns="89775" spcFirstLastPara="1" rIns="89775" wrap="square" tIns="8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Terrance Smith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1960781" y="2608444"/>
            <a:ext cx="7467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Bluetooth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457200" y="617277"/>
            <a:ext cx="8229600" cy="602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elvetica Neue"/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10835640" y="4871012"/>
            <a:ext cx="74677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419431"/>
            <a:ext cx="8915401" cy="119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57200" y="786883"/>
            <a:ext cx="8229600" cy="602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/>
              <a:t>User Interface &amp; Control System Integration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 sz="1200"/>
              <a:t>Zachary Bauman</a:t>
            </a:r>
            <a:endParaRPr sz="2200"/>
          </a:p>
        </p:txBody>
      </p:sp>
      <p:graphicFrame>
        <p:nvGraphicFramePr>
          <p:cNvPr id="136" name="Google Shape;136;p24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{03FABF46-57E0-47C0-BE7C-1FD9BBCE0F27}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Accomplishments since </a:t>
                      </a:r>
                      <a:r>
                        <a:rPr lang="en" sz="1400"/>
                        <a:t>last update</a:t>
                      </a:r>
                      <a:r>
                        <a:rPr lang="en" sz="1400" u="none" cap="none" strike="noStrike"/>
                        <a:t>                                </a:t>
                      </a:r>
                      <a:r>
                        <a:rPr lang="en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en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en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" sz="1400" u="none" cap="none" strike="noStrike">
                          <a:solidFill>
                            <a:srgbClr val="C00000"/>
                          </a:solidFill>
                        </a:rPr>
                        <a:t>hrs of effort</a:t>
                      </a:r>
                      <a:endParaRPr sz="14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34325" marB="343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813300">
                <a:tc>
                  <a:txBody>
                    <a:bodyPr/>
                    <a:lstStyle/>
                    <a:p>
                      <a:pPr indent="-2540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Integrated the new control logic (new commutation step table, soft-start sequences, and bootstrap cap. logic)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With the Test Driver: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Successful bidirection data flow: motor responds and spins to the RPM requests from the Android app, and real-time motor RPM data is relayed to the user interface.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4325" marB="34325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40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/>
                        <a:t>RPM calculation inaccuracy: the motor is currently reporting an RPM value that's only 63% of the requested RPM value (4k rpm is outputting 2.5k rpm).</a:t>
                      </a:r>
                      <a:endParaRPr/>
                    </a:p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PI Controller Tuning: The PI logic is settling for the RPM value that is 63% of the target value; otherwise, the behavior is correct.</a:t>
                      </a:r>
                      <a:endParaRPr/>
                    </a:p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Test and tune system with the custom driver/controller.</a:t>
                      </a:r>
                      <a:endParaRPr/>
                    </a:p>
                  </a:txBody>
                  <a:tcPr marT="34325" marB="34325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457200" y="635000"/>
            <a:ext cx="8229600" cy="64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and Control Integration Demo video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57200" y="1320800"/>
            <a:ext cx="8229600" cy="3550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5" title="Status Update 5 Mobile and Control Integration Demo vide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260" y="1320800"/>
            <a:ext cx="6311490" cy="35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457200" y="786883"/>
            <a:ext cx="8229600" cy="602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/>
              <a:t>Control Algorithm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 sz="1200"/>
              <a:t>Josiah Thompson</a:t>
            </a:r>
            <a:endParaRPr sz="2200"/>
          </a:p>
        </p:txBody>
      </p:sp>
      <p:graphicFrame>
        <p:nvGraphicFramePr>
          <p:cNvPr id="149" name="Google Shape;149;p26"/>
          <p:cNvGraphicFramePr/>
          <p:nvPr/>
        </p:nvGraphicFramePr>
        <p:xfrm>
          <a:off x="685800" y="1966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{03FABF46-57E0-47C0-BE7C-1FD9BBCE0F27}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Accomplishments since </a:t>
                      </a:r>
                      <a:r>
                        <a:rPr lang="en"/>
                        <a:t>last update</a:t>
                      </a:r>
                      <a:r>
                        <a:rPr lang="en" sz="1400" u="none" cap="none" strike="noStrike"/>
                        <a:t>                        </a:t>
                      </a:r>
                      <a:r>
                        <a:rPr lang="en" sz="1400" u="none" cap="none" strike="noStrike">
                          <a:solidFill>
                            <a:srgbClr val="C00000"/>
                          </a:solidFill>
                        </a:rPr>
                        <a:t>         </a:t>
                      </a:r>
                      <a:r>
                        <a:rPr lang="en">
                          <a:solidFill>
                            <a:srgbClr val="C00000"/>
                          </a:solidFill>
                        </a:rPr>
                        <a:t>60+</a:t>
                      </a:r>
                      <a:r>
                        <a:rPr lang="en" sz="14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4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34325" marB="343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Control algorithm runs partially integrated with UI (counter clockwise spin working with full motor function)</a:t>
                      </a:r>
                      <a:endParaRPr/>
                    </a:p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Control algorithm </a:t>
                      </a:r>
                      <a:r>
                        <a:rPr lang="en"/>
                        <a:t>integration</a:t>
                      </a:r>
                      <a:r>
                        <a:rPr lang="en"/>
                        <a:t> with custom driver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25" marB="34325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Fix RPM measurement with integrated driver</a:t>
                      </a:r>
                      <a:endParaRPr/>
                    </a:p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Fix startup on the control algorithm</a:t>
                      </a:r>
                      <a:endParaRPr/>
                    </a:p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Run and verify bidirectional control with full integration</a:t>
                      </a:r>
                      <a:endParaRPr/>
                    </a:p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/>
                        <a:t>Program custom MCU once PCB complete</a:t>
                      </a:r>
                      <a:endParaRPr/>
                    </a:p>
                  </a:txBody>
                  <a:tcPr marT="34325" marB="34325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457200" y="786883"/>
            <a:ext cx="8229600" cy="602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/>
              <a:t>Custom driver/controller and Control system integration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 sz="1200"/>
              <a:t>Terrance Smith</a:t>
            </a:r>
            <a:endParaRPr sz="2200"/>
          </a:p>
        </p:txBody>
      </p:sp>
      <p:graphicFrame>
        <p:nvGraphicFramePr>
          <p:cNvPr id="155" name="Google Shape;155;p27"/>
          <p:cNvGraphicFramePr/>
          <p:nvPr/>
        </p:nvGraphicFramePr>
        <p:xfrm>
          <a:off x="721100" y="2337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{03FABF46-57E0-47C0-BE7C-1FD9BBCE0F27}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500" u="none" cap="none" strike="noStrike"/>
                        <a:t>Accomplishments since </a:t>
                      </a:r>
                      <a:r>
                        <a:rPr lang="en" sz="1500"/>
                        <a:t>last update </a:t>
                      </a:r>
                      <a:r>
                        <a:rPr lang="en" sz="1500" u="none" cap="none" strike="noStrike"/>
                        <a:t>               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20</a:t>
                      </a:r>
                      <a:r>
                        <a:rPr lang="en" sz="1500" u="none" cap="none" strike="noStrike">
                          <a:solidFill>
                            <a:srgbClr val="FF0000"/>
                          </a:solidFill>
                        </a:rPr>
                        <a:t> hours </a:t>
                      </a:r>
                      <a:r>
                        <a:rPr lang="en" sz="1500" u="none" cap="none" strike="noStrike"/>
                        <a:t>          </a:t>
                      </a:r>
                      <a:endParaRPr sz="15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u="none" cap="none" strike="noStrike"/>
                        <a:t>Ongoing progress/problems and plans until the next presentation</a:t>
                      </a:r>
                      <a:endParaRPr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-"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Complete integration with control systems 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Char char="-"/>
                      </a:pPr>
                      <a:r>
                        <a:rPr lang="en" sz="1500"/>
                        <a:t>Smooth and complete rotations with MCU </a:t>
                      </a:r>
                      <a:endParaRPr sz="1500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One of the phase driver ICs heats up after some time while </a:t>
                      </a:r>
                      <a:r>
                        <a:rPr lang="en"/>
                        <a:t>activated</a:t>
                      </a:r>
                      <a:r>
                        <a:rPr lang="en"/>
                        <a:t>  </a:t>
                      </a:r>
                      <a:endParaRPr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Desolder barrel jack to allow power pcb to be main source of power. </a:t>
                      </a:r>
                      <a:endParaRPr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Input component into the printed housing</a:t>
                      </a:r>
                      <a:endParaRPr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Finish </a:t>
                      </a:r>
                      <a:r>
                        <a:rPr lang="en"/>
                        <a:t>soldering</a:t>
                      </a:r>
                      <a:r>
                        <a:rPr lang="en"/>
                        <a:t> of mcu pcb</a:t>
                      </a:r>
                      <a:endParaRPr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2903875" y="98979"/>
            <a:ext cx="7258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/>
              <a:t>Custom Controller/Driver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" sz="1200"/>
              <a:t>Terrance Smith</a:t>
            </a:r>
            <a:endParaRPr sz="2200"/>
          </a:p>
        </p:txBody>
      </p:sp>
      <p:sp>
        <p:nvSpPr>
          <p:cNvPr id="161" name="Google Shape;161;p28"/>
          <p:cNvSpPr txBox="1"/>
          <p:nvPr/>
        </p:nvSpPr>
        <p:spPr>
          <a:xfrm>
            <a:off x="3360450" y="1281975"/>
            <a:ext cx="24231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Integration Results</a:t>
            </a:r>
            <a:endParaRPr b="1" sz="1900">
              <a:solidFill>
                <a:schemeClr val="dk1"/>
              </a:solidFill>
            </a:endParaRPr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6075"/>
            <a:ext cx="4419599" cy="283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 title="Integration with mcu and ESC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0174" y="2303925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457200" y="635000"/>
            <a:ext cx="8229600" cy="64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Power/Housing</a:t>
            </a:r>
            <a:br>
              <a:rPr lang="en"/>
            </a:br>
            <a:r>
              <a:rPr lang="en" sz="1400"/>
              <a:t>Rodene</a:t>
            </a:r>
            <a:endParaRPr sz="2400"/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126730" y="4871012"/>
            <a:ext cx="5600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526931" y="1402238"/>
            <a:ext cx="8159850" cy="34688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PCB is tasked with converting wall input into output power supply for control system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Housing to contain all components of the integrated control</a:t>
            </a:r>
            <a:endParaRPr sz="2100">
              <a:solidFill>
                <a:schemeClr val="dk1"/>
              </a:solidFill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462276" y="2474550"/>
            <a:ext cx="3619799" cy="20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125" y="2474550"/>
            <a:ext cx="2345674" cy="255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457200" y="628382"/>
            <a:ext cx="8229600" cy="64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Power</a:t>
            </a:r>
            <a:br>
              <a:rPr lang="en"/>
            </a:br>
            <a:r>
              <a:rPr lang="en" sz="1400"/>
              <a:t>Rodene Corpuz-Roxas</a:t>
            </a:r>
            <a:endParaRPr sz="2400"/>
          </a:p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8126730" y="4871012"/>
            <a:ext cx="560025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79" name="Google Shape;179;p30"/>
          <p:cNvGraphicFramePr/>
          <p:nvPr/>
        </p:nvGraphicFramePr>
        <p:xfrm>
          <a:off x="457200" y="1341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{03FABF46-57E0-47C0-BE7C-1FD9BBCE0F27}</a:tableStyleId>
              </a:tblPr>
              <a:tblGrid>
                <a:gridCol w="4518650"/>
                <a:gridCol w="3710925"/>
              </a:tblGrid>
              <a:tr h="78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Accomplishments since 403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/>
                        <a:t>10</a:t>
                      </a:r>
                      <a:r>
                        <a:rPr lang="en" sz="1400" u="none" cap="none" strike="noStrike"/>
                        <a:t> hours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25" marB="343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Ongoing progress/problems and plans until the next presentation</a:t>
                      </a:r>
                      <a:endParaRPr sz="1100" u="none" cap="none" strike="noStrike"/>
                    </a:p>
                  </a:txBody>
                  <a:tcPr marT="34325" marB="34325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099550">
                <a:tc>
                  <a:txBody>
                    <a:bodyPr/>
                    <a:lstStyle/>
                    <a:p>
                      <a:pPr indent="-19685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•"/>
                      </a:pPr>
                      <a:r>
                        <a:rPr lang="en"/>
                        <a:t>Housing design completed</a:t>
                      </a:r>
                      <a:endParaRPr/>
                    </a:p>
                    <a:p>
                      <a:pPr indent="-19685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•"/>
                      </a:pPr>
                      <a:r>
                        <a:rPr lang="en"/>
                        <a:t>Switch added to power PCB</a:t>
                      </a:r>
                      <a:endParaRPr/>
                    </a:p>
                  </a:txBody>
                  <a:tcPr marT="34325" marB="34325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•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3D print housing for the entire integrated system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3495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•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Solder microprocessor onto MCU PCB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4325" marB="34325" marR="68600" marL="686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0" y="629081"/>
            <a:ext cx="9144000" cy="644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/>
              <a:t>Execution Plan</a:t>
            </a: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475" y="1161756"/>
            <a:ext cx="7066940" cy="3564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0" y="629081"/>
            <a:ext cx="9144000" cy="644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/>
              <a:t>Validation Plan</a:t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6106"/>
            <a:ext cx="8721378" cy="3564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1650"/>
            <a:ext cx="8839200" cy="3683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1485900" y="1206409"/>
            <a:ext cx="6172200" cy="30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2600"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b="1" sz="2600"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</a:pPr>
            <a:r>
              <a:rPr b="1" lang="en" sz="2600"/>
              <a:t>Team 26: RPM1</a:t>
            </a:r>
            <a:endParaRPr b="1" sz="2600"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</a:pPr>
            <a:r>
              <a:rPr b="1" lang="en" sz="2600"/>
              <a:t>Thanks &amp; Gig’em</a:t>
            </a:r>
            <a:endParaRPr b="1" sz="2600"/>
          </a:p>
        </p:txBody>
      </p:sp>
      <p:sp>
        <p:nvSpPr>
          <p:cNvPr id="202" name="Google Shape;202;p34"/>
          <p:cNvSpPr txBox="1"/>
          <p:nvPr/>
        </p:nvSpPr>
        <p:spPr>
          <a:xfrm>
            <a:off x="8126730" y="4871012"/>
            <a:ext cx="560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